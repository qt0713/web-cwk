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9.svg" ContentType="image/svg+xml"/>
  <Override PartName="/ppt/media/image31.svg" ContentType="image/svg+xml"/>
  <Override PartName="/ppt/media/image33.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0" userDrawn="1">
          <p15:clr>
            <a:srgbClr val="747775"/>
          </p15:clr>
        </p15:guide>
        <p15:guide id="2" pos="284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0"/>
        <p:guide pos="284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Hello everyone, and thank you for attending my presentation. Today, I will be discussing my coursework project, a Book Metadata and Recommendation API.</a:t>
            </a:r>
            <a:endParaRPr lang="en-US" sz="1400" b="0" i="0" u="none" strike="noStrike">
              <a:solidFill>
                <a:srgbClr val="000000"/>
              </a:solidFill>
            </a:endParaRPr>
          </a:p>
          <a:p>
            <a:pPr indent="0" algn="l">
              <a:lnSpc>
                <a:spcPct val="100000"/>
              </a:lnSpc>
            </a:pPr>
            <a:r>
              <a:rPr lang="en-US" sz="1400" b="0" i="0" u="none" strike="noStrike">
                <a:solidFill>
                  <a:srgbClr val="000000"/>
                </a:solidFill>
              </a:rPr>
              <a:t>This project involved building a comprehensive backend system to manage book information and provide personalized recommendations.</a:t>
            </a:r>
            <a:endParaRPr lang="en-US" sz="1400" b="0" i="0" u="none" strike="noStrike">
              <a:solidFill>
                <a:srgbClr val="000000"/>
              </a:solidFill>
            </a:endParaRPr>
          </a:p>
          <a:p>
            <a:pPr indent="0" algn="l">
              <a:lnSpc>
                <a:spcPct val="100000"/>
              </a:lnSpc>
            </a:pPr>
            <a:r>
              <a:rPr lang="en-US" sz="1400" b="0" i="0" u="none" strike="noStrike">
                <a:solidFill>
                  <a:srgbClr val="000000"/>
                </a:solidFill>
              </a:rPr>
              <a:t>I'll walk you through the project scope, the development process, key technical decisions, and the final deliverables.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First, let's define the project scope. I built a RESTful API for managing book metadata, secured with JWT authentication. The system includes full CRUD operations, a recommendation engine, and analytics endpoints. A key feature is the reproducible dataset import pipeline that uses public Kaggle data. The main deliverables are a secure, testable backend system and realistic data behavior achieved through the integration of this dataset.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For the development process, I adopted a rigorous version control strategy using Git. Commits were incremental and feature-based, with clear, task-oriented messages to ensure full traceability. The codebase evolved through a clear progression: starting with the core API, then adding authentication, analytics, optimizing the data importer, and finally, comprehensive documentation. This demonstrates iterative engineering and careful management, rather than a single final upload.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Comprehensive API documentation was a key deliverable. It covers all endpoints for the Auth, Books, and Analytics modules, including detailed request and response schemas, HTTP status codes, and authentication examples. The documentation is accessible as a PDF within the repository, supporting both offline assessment and live demonstration testing.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technical report details the rationale behind key decisions. The technology stack, including FastAPI for performance and typing, SQLAlchemy for ORM, and dual database support, was chosen for its robustness and flexibility. The architecture follows resource-oriented routing and a JWT security model. The report also includes analysis of the dataset import methodology, testing with Pytest, deployment validation, and a declaration of GenAI usage with supporting logs.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Let's look at the system architecture. The execution flow is straightforward: a client request hits the FastAPI routes, which interact with the service layer, then the SQLAlchemy ORM, and finally the database, returning a JSON response. The core data schema consists of User and Book entities. The recommendation logic prioritizes books by genre, ranks them by rating, and falls back to global top-rated books if needed. The ERD diagram, which I'll show you shortly, visualizes these relationships.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ensure reliability, the system was thoroughly tested using Pytest and the FastAPI TestClient, covering all critical flows including authentication, CRUD operations, recommendations, and analytics.</a:t>
            </a:r>
            <a:endParaRPr lang="en-US" sz="1400" b="0" i="0" u="none" strike="noStrike">
              <a:solidFill>
                <a:srgbClr val="000000"/>
              </a:solidFill>
            </a:endParaRPr>
          </a:p>
          <a:p>
            <a:pPr indent="0" algn="l">
              <a:lnSpc>
                <a:spcPct val="100000"/>
              </a:lnSpc>
            </a:pPr>
            <a:r>
              <a:rPr lang="en-US" sz="1400" b="0" i="0" u="none" strike="noStrike">
                <a:solidFill>
                  <a:srgbClr val="000000"/>
                </a:solidFill>
              </a:rPr>
              <a:t>For the live demonstration, I will follow a step-by-step sequence: registering a user, logging in to get a token, performing CRUD operations, requesting recommendations, calling analytics, and finally verifying system health and documentation access.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Finally, here is a checklist of all deliverables for this project. The code repository, API documentation, technical report, and GenAI usage evidence are all complete and available. Thank you for your time. I am now happy to answer any questions you may have.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3" Type="http://schemas.openxmlformats.org/officeDocument/2006/relationships/notesSlide" Target="../notesSlides/notesSlide2.xml"/><Relationship Id="rId12" Type="http://schemas.openxmlformats.org/officeDocument/2006/relationships/slideLayout" Target="../slideLayouts/slideLayout12.xml"/><Relationship Id="rId11" Type="http://schemas.openxmlformats.org/officeDocument/2006/relationships/image" Target="../media/image4.png"/><Relationship Id="rId10" Type="http://schemas.openxmlformats.org/officeDocument/2006/relationships/image" Target="../media/image3.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image" Target="../media/image18.svg"/><Relationship Id="rId8" Type="http://schemas.openxmlformats.org/officeDocument/2006/relationships/image" Target="../media/image17.png"/><Relationship Id="rId7" Type="http://schemas.openxmlformats.org/officeDocument/2006/relationships/image" Target="../media/image16.svg"/><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image" Target="../media/image12.svg"/><Relationship Id="rId20" Type="http://schemas.openxmlformats.org/officeDocument/2006/relationships/notesSlide" Target="../notesSlides/notesSlide5.xml"/><Relationship Id="rId2" Type="http://schemas.openxmlformats.org/officeDocument/2006/relationships/image" Target="../media/image11.png"/><Relationship Id="rId19" Type="http://schemas.openxmlformats.org/officeDocument/2006/relationships/slideLayout" Target="../slideLayouts/slideLayout12.xml"/><Relationship Id="rId18" Type="http://schemas.openxmlformats.org/officeDocument/2006/relationships/image" Target="../media/image27.png"/><Relationship Id="rId17" Type="http://schemas.openxmlformats.org/officeDocument/2006/relationships/image" Target="../media/image26.svg"/><Relationship Id="rId16" Type="http://schemas.openxmlformats.org/officeDocument/2006/relationships/image" Target="../media/image25.png"/><Relationship Id="rId15" Type="http://schemas.openxmlformats.org/officeDocument/2006/relationships/image" Target="../media/image24.svg"/><Relationship Id="rId14" Type="http://schemas.openxmlformats.org/officeDocument/2006/relationships/image" Target="../media/image23.png"/><Relationship Id="rId13" Type="http://schemas.openxmlformats.org/officeDocument/2006/relationships/image" Target="../media/image22.svg"/><Relationship Id="rId12" Type="http://schemas.openxmlformats.org/officeDocument/2006/relationships/image" Target="../media/image21.png"/><Relationship Id="rId11" Type="http://schemas.openxmlformats.org/officeDocument/2006/relationships/image" Target="../media/image20.svg"/><Relationship Id="rId10" Type="http://schemas.openxmlformats.org/officeDocument/2006/relationships/image" Target="../media/image19.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image" Target="../media/image34.png"/><Relationship Id="rId7" Type="http://schemas.openxmlformats.org/officeDocument/2006/relationships/image" Target="../media/image33.svg"/><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 Id="rId3" Type="http://schemas.openxmlformats.org/officeDocument/2006/relationships/image" Target="../media/image29.svg"/><Relationship Id="rId2" Type="http://schemas.openxmlformats.org/officeDocument/2006/relationships/image" Target="../media/image28.png"/><Relationship Id="rId11" Type="http://schemas.openxmlformats.org/officeDocument/2006/relationships/notesSlide" Target="../notesSlides/notesSlide6.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36.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hyperlink" Target="https://github.com/qt0713/Web-cwk" TargetMode="Externa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tags" Target="../tags/tag11.xml"/><Relationship Id="rId36" Type="http://schemas.openxmlformats.org/officeDocument/2006/relationships/notesSlide" Target="../notesSlides/notesSlide8.xml"/><Relationship Id="rId35" Type="http://schemas.openxmlformats.org/officeDocument/2006/relationships/slideLayout" Target="../slideLayouts/slideLayout12.xml"/><Relationship Id="rId34" Type="http://schemas.openxmlformats.org/officeDocument/2006/relationships/hyperlink" Target="https://github.com/qt0713/Web-cwk/blob/main/docs/GENAI_EXPORTED_LOG_SNIPPETS.md" TargetMode="External"/><Relationship Id="rId33" Type="http://schemas.openxmlformats.org/officeDocument/2006/relationships/hyperlink" Target="https://github.com/qt0713/Web-cwk/blob/main/docs/GENAI_EXCERPTS.md" TargetMode="External"/><Relationship Id="rId32" Type="http://schemas.openxmlformats.org/officeDocument/2006/relationships/tags" Target="../tags/tag28.xml"/><Relationship Id="rId31" Type="http://schemas.openxmlformats.org/officeDocument/2006/relationships/tags" Target="../tags/tag27.xml"/><Relationship Id="rId30" Type="http://schemas.openxmlformats.org/officeDocument/2006/relationships/image" Target="../media/image44.svg"/><Relationship Id="rId3" Type="http://schemas.openxmlformats.org/officeDocument/2006/relationships/tags" Target="../tags/tag10.xml"/><Relationship Id="rId29" Type="http://schemas.openxmlformats.org/officeDocument/2006/relationships/image" Target="../media/image43.png"/><Relationship Id="rId28" Type="http://schemas.openxmlformats.org/officeDocument/2006/relationships/tags" Target="../tags/tag26.xml"/><Relationship Id="rId27" Type="http://schemas.openxmlformats.org/officeDocument/2006/relationships/tags" Target="../tags/tag25.xml"/><Relationship Id="rId26" Type="http://schemas.openxmlformats.org/officeDocument/2006/relationships/tags" Target="../tags/tag24.xml"/><Relationship Id="rId25" Type="http://schemas.openxmlformats.org/officeDocument/2006/relationships/hyperlink" Target="https://github.com/qt0713/Web-cwk/blob/main/TECHNICAL_REPORT.pdf" TargetMode="Externa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image" Target="../media/image42.svg"/><Relationship Id="rId21" Type="http://schemas.openxmlformats.org/officeDocument/2006/relationships/image" Target="../media/image41.png"/><Relationship Id="rId20" Type="http://schemas.openxmlformats.org/officeDocument/2006/relationships/tags" Target="../tags/tag21.xml"/><Relationship Id="rId2" Type="http://schemas.openxmlformats.org/officeDocument/2006/relationships/tags" Target="../tags/tag9.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hyperlink" Target="https://github.com/qt0713/Web-cwk/blob/main/docs/API_DOCUMENTATION.pdf" TargetMode="Externa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image" Target="../media/image40.svg"/><Relationship Id="rId13" Type="http://schemas.openxmlformats.org/officeDocument/2006/relationships/image" Target="../media/image39.png"/><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1905000"/>
            <a:ext cx="1016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FFFFFF"/>
                </a:solidFill>
                <a:latin typeface="Poppins"/>
                <a:ea typeface="Poppins"/>
                <a:cs typeface="Poppins"/>
                <a:sym typeface="Poppins"/>
              </a:rPr>
              <a:t>Book Metadata and Recommendation API</a:t>
            </a:r>
            <a:endParaRPr lang="en-US" sz="1100"/>
          </a:p>
        </p:txBody>
      </p:sp>
      <p:sp>
        <p:nvSpPr>
          <p:cNvPr id="4" name="AutoShape 4"/>
          <p:cNvSpPr/>
          <p:nvPr/>
        </p:nvSpPr>
        <p:spPr>
          <a:xfrm>
            <a:off x="1016000" y="2921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4FD1C5"/>
                </a:solidFill>
                <a:latin typeface="Poppins"/>
                <a:ea typeface="Poppins"/>
                <a:cs typeface="Poppins"/>
                <a:sym typeface="Poppins"/>
              </a:rPr>
              <a:t>Coursework Presentation</a:t>
            </a:r>
            <a:endParaRPr lang="en-US" sz="1100"/>
          </a:p>
        </p:txBody>
      </p:sp>
      <p:sp>
        <p:nvSpPr>
          <p:cNvPr id="5" name="AutoShape 5"/>
          <p:cNvSpPr/>
          <p:nvPr/>
        </p:nvSpPr>
        <p:spPr>
          <a:xfrm>
            <a:off x="1016000" y="3746500"/>
            <a:ext cx="17780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4445000"/>
            <a:ext cx="4826000" cy="1651000"/>
          </a:xfrm>
          <a:prstGeom prst="roundRect">
            <a:avLst>
              <a:gd name="adj" fmla="val 923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270000" y="4635500"/>
            <a:ext cx="114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60000"/>
                  </a:srgbClr>
                </a:solidFill>
                <a:latin typeface="Poppins"/>
                <a:ea typeface="Poppins"/>
                <a:cs typeface="Poppins"/>
                <a:sym typeface="Poppins"/>
              </a:rPr>
              <a:t>NAME</a:t>
            </a:r>
            <a:endParaRPr lang="en-US" sz="1100"/>
          </a:p>
        </p:txBody>
      </p:sp>
      <p:sp>
        <p:nvSpPr>
          <p:cNvPr id="8" name="AutoShape 8"/>
          <p:cNvSpPr/>
          <p:nvPr/>
        </p:nvSpPr>
        <p:spPr>
          <a:xfrm>
            <a:off x="2667000" y="4635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solidFill>
                <a:latin typeface="+mj-lt"/>
                <a:ea typeface="Poppins"/>
                <a:cs typeface="+mj-lt"/>
                <a:sym typeface="Poppins"/>
              </a:rPr>
              <a:t>Changwei Li</a:t>
            </a:r>
            <a:endParaRPr lang="en-US" sz="1200" b="0" i="0" u="none" strike="noStrike">
              <a:solidFill>
                <a:srgbClr val="FFFFFF"/>
              </a:solidFill>
              <a:latin typeface="+mj-lt"/>
              <a:ea typeface="Poppins"/>
              <a:cs typeface="+mj-lt"/>
              <a:sym typeface="Poppins"/>
            </a:endParaRPr>
          </a:p>
        </p:txBody>
      </p:sp>
      <p:sp>
        <p:nvSpPr>
          <p:cNvPr id="9" name="AutoShape 9"/>
          <p:cNvSpPr/>
          <p:nvPr/>
        </p:nvSpPr>
        <p:spPr>
          <a:xfrm>
            <a:off x="1270000" y="4978400"/>
            <a:ext cx="114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60000"/>
                  </a:srgbClr>
                </a:solidFill>
                <a:latin typeface="Poppins"/>
                <a:ea typeface="Poppins"/>
                <a:cs typeface="Poppins"/>
                <a:sym typeface="Poppins"/>
              </a:rPr>
              <a:t>STUDENT ID</a:t>
            </a:r>
            <a:endParaRPr lang="en-US" sz="1100"/>
          </a:p>
        </p:txBody>
      </p:sp>
      <p:sp>
        <p:nvSpPr>
          <p:cNvPr id="10" name="AutoShape 10"/>
          <p:cNvSpPr/>
          <p:nvPr/>
        </p:nvSpPr>
        <p:spPr>
          <a:xfrm>
            <a:off x="2667000" y="49784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solidFill>
                <a:latin typeface="+mj-lt"/>
                <a:ea typeface="Poppins"/>
                <a:cs typeface="+mj-lt"/>
                <a:sym typeface="Poppins"/>
              </a:rPr>
              <a:t>201690978</a:t>
            </a:r>
            <a:endParaRPr lang="en-US" sz="1200" b="0" i="0" u="none" strike="noStrike">
              <a:solidFill>
                <a:srgbClr val="FFFFFF"/>
              </a:solidFill>
              <a:latin typeface="+mj-lt"/>
              <a:ea typeface="Poppins"/>
              <a:cs typeface="+mj-lt"/>
              <a:sym typeface="Poppins"/>
            </a:endParaRPr>
          </a:p>
        </p:txBody>
      </p:sp>
      <p:sp>
        <p:nvSpPr>
          <p:cNvPr id="11" name="AutoShape 11"/>
          <p:cNvSpPr/>
          <p:nvPr/>
        </p:nvSpPr>
        <p:spPr>
          <a:xfrm>
            <a:off x="1270000" y="5321300"/>
            <a:ext cx="114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60000"/>
                  </a:srgbClr>
                </a:solidFill>
                <a:latin typeface="Poppins"/>
                <a:ea typeface="Poppins"/>
                <a:cs typeface="Poppins"/>
                <a:sym typeface="Poppins"/>
              </a:rPr>
              <a:t>MODULE</a:t>
            </a:r>
            <a:endParaRPr lang="en-US" sz="1100"/>
          </a:p>
        </p:txBody>
      </p:sp>
      <p:sp>
        <p:nvSpPr>
          <p:cNvPr id="12" name="AutoShape 12"/>
          <p:cNvSpPr/>
          <p:nvPr/>
        </p:nvSpPr>
        <p:spPr>
          <a:xfrm>
            <a:off x="2667000" y="53213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200">
                <a:solidFill>
                  <a:schemeClr val="bg1"/>
                </a:solidFill>
              </a:rPr>
              <a:t>Web Services and Web Data</a:t>
            </a:r>
            <a:r>
              <a:rPr lang="en-US" altLang="zh-CN" sz="1100"/>
              <a:t> </a:t>
            </a:r>
            <a:endParaRPr lang="en-US" altLang="zh-CN"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Arial" panose="020B0604020202020204" pitchFamily="34" charset="0"/>
                <a:ea typeface="Poppins"/>
                <a:cs typeface="Arial" panose="020B0604020202020204" pitchFamily="34" charset="0"/>
                <a:sym typeface="Poppins"/>
              </a:rPr>
              <a:t>Project Scope &amp; Delivered System</a:t>
            </a:r>
            <a:endParaRPr lang="en-US" sz="1100">
              <a:latin typeface="Arial" panose="020B0604020202020204" pitchFamily="34" charset="0"/>
              <a:cs typeface="Arial" panose="020B0604020202020204" pitchFamily="34" charset="0"/>
            </a:endParaRPr>
          </a:p>
        </p:txBody>
      </p:sp>
      <p:sp>
        <p:nvSpPr>
          <p:cNvPr id="4" name="AutoShape 4"/>
          <p:cNvSpPr/>
          <p:nvPr>
            <p:custDataLst>
              <p:tags r:id="rId2"/>
            </p:custDataLst>
          </p:nvPr>
        </p:nvSpPr>
        <p:spPr>
          <a:xfrm>
            <a:off x="762000" y="1524000"/>
            <a:ext cx="5080000" cy="2159000"/>
          </a:xfrm>
          <a:prstGeom prst="roundRect">
            <a:avLst>
              <a:gd name="adj" fmla="val 7058"/>
            </a:avLst>
          </a:prstGeom>
          <a:solidFill>
            <a:srgbClr val="FFFFFF">
              <a:alpha val="95000"/>
            </a:srgbClr>
          </a:solidFill>
          <a:ln w="25400" cap="flat" cmpd="sng">
            <a:noFill/>
            <a:prstDash val="solid"/>
            <a:round/>
          </a:ln>
          <a:effectLst>
            <a:outerShdw blurRad="190500" dist="635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016000" y="1778000"/>
            <a:ext cx="76200" cy="3556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1270000" y="1752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Arial" panose="020B0604020202020204" pitchFamily="34" charset="0"/>
                <a:ea typeface="Poppins"/>
                <a:cs typeface="Arial" panose="020B0604020202020204" pitchFamily="34" charset="0"/>
                <a:sym typeface="Poppins"/>
              </a:rPr>
              <a:t>What Was Buil</a:t>
            </a:r>
            <a:r>
              <a:rPr lang="en-US" sz="1800" b="1" i="0" u="none" strike="noStrike">
                <a:solidFill>
                  <a:srgbClr val="2D3748"/>
                </a:solidFill>
                <a:latin typeface="Poppins"/>
                <a:ea typeface="Poppins"/>
                <a:cs typeface="Poppins"/>
                <a:sym typeface="Poppins"/>
              </a:rPr>
              <a:t>t</a:t>
            </a:r>
            <a:endParaRPr lang="en-US" sz="1100"/>
          </a:p>
        </p:txBody>
      </p:sp>
      <p:sp>
        <p:nvSpPr>
          <p:cNvPr id="7" name="AutoShape 7"/>
          <p:cNvSpPr/>
          <p:nvPr>
            <p:custDataLst>
              <p:tags r:id="rId5"/>
            </p:custDataLst>
          </p:nvPr>
        </p:nvSpPr>
        <p:spPr>
          <a:xfrm>
            <a:off x="1016000" y="2286000"/>
            <a:ext cx="4572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4A5568"/>
                </a:solidFill>
                <a:latin typeface="Arial" panose="020B0604020202020204" pitchFamily="34" charset="0"/>
                <a:ea typeface="Poppins"/>
                <a:cs typeface="Arial" panose="020B0604020202020204" pitchFamily="34" charset="0"/>
                <a:sym typeface="Poppins"/>
              </a:rPr>
              <a:t>• RESTful book metadata management API with JWT authentication</a:t>
            </a:r>
            <a:endParaRPr lang="en-US" sz="1100">
              <a:latin typeface="Arial" panose="020B0604020202020204" pitchFamily="34" charset="0"/>
              <a:cs typeface="Arial" panose="020B0604020202020204" pitchFamily="34" charset="0"/>
            </a:endParaRPr>
          </a:p>
          <a:p>
            <a:pPr indent="0" algn="l">
              <a:lnSpc>
                <a:spcPct val="117000"/>
              </a:lnSpc>
            </a:pPr>
            <a:r>
              <a:rPr lang="en-US" sz="1200" b="0" i="0" u="none" strike="noStrike">
                <a:solidFill>
                  <a:srgbClr val="4A5568"/>
                </a:solidFill>
                <a:latin typeface="Arial" panose="020B0604020202020204" pitchFamily="34" charset="0"/>
                <a:ea typeface="Poppins"/>
                <a:cs typeface="Arial" panose="020B0604020202020204" pitchFamily="34" charset="0"/>
                <a:sym typeface="Poppins"/>
              </a:rPr>
              <a:t>• Complete CRUD operations, recommendation engine &amp; analytics endpoints</a:t>
            </a:r>
            <a:endParaRPr lang="en-US" sz="1200" b="0" i="0" u="none" strike="noStrike">
              <a:solidFill>
                <a:srgbClr val="4A5568"/>
              </a:solidFill>
              <a:latin typeface="Arial" panose="020B0604020202020204" pitchFamily="34" charset="0"/>
              <a:ea typeface="Poppins"/>
              <a:cs typeface="Arial" panose="020B0604020202020204" pitchFamily="34" charset="0"/>
              <a:sym typeface="Poppins"/>
            </a:endParaRPr>
          </a:p>
          <a:p>
            <a:pPr indent="0" algn="l">
              <a:lnSpc>
                <a:spcPct val="117000"/>
              </a:lnSpc>
            </a:pPr>
            <a:r>
              <a:rPr lang="en-US" sz="1200" b="0" i="0" u="none" strike="noStrike">
                <a:solidFill>
                  <a:srgbClr val="4A5568"/>
                </a:solidFill>
                <a:latin typeface="Arial" panose="020B0604020202020204" pitchFamily="34" charset="0"/>
                <a:ea typeface="Poppins"/>
                <a:cs typeface="Arial" panose="020B0604020202020204" pitchFamily="34" charset="0"/>
                <a:sym typeface="Poppins"/>
              </a:rPr>
              <a:t>• Reproducible dataset import pipeline based on public Kaggle data</a:t>
            </a:r>
            <a:endParaRPr lang="en-US" sz="1200" b="0" i="0" u="none" strike="noStrike">
              <a:solidFill>
                <a:srgbClr val="4A5568"/>
              </a:solidFill>
              <a:latin typeface="Arial" panose="020B0604020202020204" pitchFamily="34" charset="0"/>
              <a:ea typeface="Poppins"/>
              <a:cs typeface="Arial" panose="020B0604020202020204" pitchFamily="34" charset="0"/>
              <a:sym typeface="Poppins"/>
            </a:endParaRPr>
          </a:p>
        </p:txBody>
      </p:sp>
      <p:sp>
        <p:nvSpPr>
          <p:cNvPr id="8" name="AutoShape 8"/>
          <p:cNvSpPr/>
          <p:nvPr>
            <p:custDataLst>
              <p:tags r:id="rId6"/>
            </p:custDataLst>
          </p:nvPr>
        </p:nvSpPr>
        <p:spPr>
          <a:xfrm>
            <a:off x="762000" y="3937000"/>
            <a:ext cx="5080000" cy="1905000"/>
          </a:xfrm>
          <a:prstGeom prst="roundRect">
            <a:avLst>
              <a:gd name="adj" fmla="val 8000"/>
            </a:avLst>
          </a:prstGeom>
          <a:solidFill>
            <a:srgbClr val="FFFFFF">
              <a:alpha val="95000"/>
            </a:srgbClr>
          </a:solidFill>
          <a:ln w="25400" cap="flat" cmpd="sng">
            <a:noFill/>
            <a:prstDash val="solid"/>
            <a:round/>
          </a:ln>
          <a:effectLst>
            <a:outerShdw blurRad="190500" dist="63500" dir="5400000" algn="tl" rotWithShape="0">
              <a:srgbClr val="000000">
                <a:alpha val="8000"/>
              </a:srgbClr>
            </a:outerShdw>
          </a:effectLst>
        </p:spPr>
        <p:txBody>
          <a:bodyPr vert="horz" wrap="square" lIns="63500" tIns="63500" rIns="63500" bIns="63500" rtlCol="0" anchor="ctr"/>
          <a:lstStyle/>
          <a:p>
            <a:pPr algn="ctr">
              <a:defRPr/>
            </a:pPr>
          </a:p>
        </p:txBody>
      </p:sp>
      <p:sp>
        <p:nvSpPr>
          <p:cNvPr id="9" name="AutoShape 9"/>
          <p:cNvSpPr/>
          <p:nvPr>
            <p:custDataLst>
              <p:tags r:id="rId7"/>
            </p:custDataLst>
          </p:nvPr>
        </p:nvSpPr>
        <p:spPr>
          <a:xfrm>
            <a:off x="1016000" y="4191000"/>
            <a:ext cx="76200" cy="3556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1270000" y="4165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mj-lt"/>
                <a:ea typeface="Poppins"/>
                <a:cs typeface="+mj-lt"/>
                <a:sym typeface="Poppins"/>
              </a:rPr>
              <a:t>Key Deliverables</a:t>
            </a:r>
            <a:endParaRPr lang="en-US" sz="1100">
              <a:latin typeface="+mj-lt"/>
              <a:cs typeface="+mj-lt"/>
            </a:endParaRPr>
          </a:p>
        </p:txBody>
      </p:sp>
      <p:sp>
        <p:nvSpPr>
          <p:cNvPr id="11" name="AutoShape 11"/>
          <p:cNvSpPr/>
          <p:nvPr>
            <p:custDataLst>
              <p:tags r:id="rId9"/>
            </p:custDataLst>
          </p:nvPr>
        </p:nvSpPr>
        <p:spPr>
          <a:xfrm>
            <a:off x="1016000" y="4699000"/>
            <a:ext cx="4572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4A5568"/>
                </a:solidFill>
                <a:latin typeface="+mj-lt"/>
                <a:ea typeface="Poppins"/>
                <a:cs typeface="+mj-lt"/>
                <a:sym typeface="Poppins"/>
              </a:rPr>
              <a:t>• Secure, testable backend system is ready designed</a:t>
            </a:r>
            <a:endParaRPr lang="en-US" sz="1100">
              <a:latin typeface="+mj-lt"/>
              <a:cs typeface="+mj-lt"/>
            </a:endParaRPr>
          </a:p>
          <a:p>
            <a:pPr indent="0" algn="l">
              <a:lnSpc>
                <a:spcPct val="117000"/>
              </a:lnSpc>
            </a:pPr>
            <a:r>
              <a:rPr lang="en-US" sz="1200" b="0" i="0" u="none" strike="noStrike">
                <a:solidFill>
                  <a:srgbClr val="4A5568"/>
                </a:solidFill>
                <a:latin typeface="+mj-lt"/>
                <a:ea typeface="Poppins"/>
                <a:cs typeface="+mj-lt"/>
                <a:sym typeface="Poppins"/>
              </a:rPr>
              <a:t>• Realistic data behavior simulation via integrated public dataset ingestion</a:t>
            </a:r>
            <a:endParaRPr lang="en-US" sz="1200" b="0" i="0" u="none" strike="noStrike">
              <a:solidFill>
                <a:srgbClr val="4A5568"/>
              </a:solidFill>
              <a:latin typeface="+mj-lt"/>
              <a:ea typeface="Poppins"/>
              <a:cs typeface="+mj-lt"/>
              <a:sym typeface="Poppins"/>
            </a:endParaRPr>
          </a:p>
        </p:txBody>
      </p:sp>
      <p:sp>
        <p:nvSpPr>
          <p:cNvPr id="12" name="AutoShape 12"/>
          <p:cNvSpPr/>
          <p:nvPr/>
        </p:nvSpPr>
        <p:spPr>
          <a:xfrm>
            <a:off x="6096000" y="1524000"/>
            <a:ext cx="5080000" cy="2413000"/>
          </a:xfrm>
          <a:prstGeom prst="roundRect">
            <a:avLst>
              <a:gd name="adj" fmla="val 6315"/>
            </a:avLst>
          </a:prstGeom>
          <a:solidFill>
            <a:srgbClr val="FFFFFF">
              <a:alpha val="95000"/>
            </a:srgbClr>
          </a:solidFill>
          <a:ln w="25400" cap="flat" cmpd="sng">
            <a:noFill/>
            <a:prstDash val="solid"/>
            <a:round/>
          </a:ln>
          <a:effectLst>
            <a:outerShdw blurRad="190500" dist="63500" dir="5400000" algn="tl" rotWithShape="0">
              <a:srgbClr val="000000">
                <a:alpha val="8000"/>
              </a:srgbClr>
            </a:outerShdw>
          </a:effectLst>
        </p:spPr>
        <p:txBody>
          <a:bodyPr vert="horz" wrap="square" lIns="63500" tIns="63500" rIns="63500" bIns="63500" rtlCol="0" anchor="ctr"/>
          <a:lstStyle/>
          <a:p>
            <a:pPr algn="ctr">
              <a:defRPr/>
            </a:pPr>
          </a:p>
        </p:txBody>
      </p:sp>
      <p:sp>
        <p:nvSpPr>
          <p:cNvPr id="14" name="AutoShape 14"/>
          <p:cNvSpPr/>
          <p:nvPr/>
        </p:nvSpPr>
        <p:spPr>
          <a:xfrm>
            <a:off x="6096000" y="4191000"/>
            <a:ext cx="5080000" cy="1651000"/>
          </a:xfrm>
          <a:prstGeom prst="roundRect">
            <a:avLst>
              <a:gd name="adj" fmla="val 9230"/>
            </a:avLst>
          </a:prstGeom>
          <a:solidFill>
            <a:srgbClr val="FFFFFF">
              <a:alpha val="95000"/>
            </a:srgbClr>
          </a:solidFill>
          <a:ln w="25400" cap="flat" cmpd="sng">
            <a:noFill/>
            <a:prstDash val="solid"/>
            <a:round/>
          </a:ln>
          <a:effectLst>
            <a:outerShdw blurRad="190500" dist="63500" dir="5400000" algn="tl" rotWithShape="0">
              <a:srgbClr val="000000">
                <a:alpha val="8000"/>
              </a:srgbClr>
            </a:outerShdw>
          </a:effectLst>
        </p:spPr>
        <p:txBody>
          <a:bodyPr vert="horz" wrap="square" lIns="63500" tIns="63500" rIns="63500" bIns="63500" rtlCol="0" anchor="ctr"/>
          <a:lstStyle/>
          <a:p>
            <a:pPr algn="ctr">
              <a:defRPr/>
            </a:pPr>
          </a:p>
        </p:txBody>
      </p:sp>
      <p:pic>
        <p:nvPicPr>
          <p:cNvPr id="19" name="图片 18"/>
          <p:cNvPicPr>
            <a:picLocks noChangeAspect="1"/>
          </p:cNvPicPr>
          <p:nvPr/>
        </p:nvPicPr>
        <p:blipFill>
          <a:blip r:embed="rId10"/>
          <a:stretch>
            <a:fillRect/>
          </a:stretch>
        </p:blipFill>
        <p:spPr>
          <a:xfrm>
            <a:off x="6666865" y="4165600"/>
            <a:ext cx="3369310" cy="1637030"/>
          </a:xfrm>
          <a:prstGeom prst="rect">
            <a:avLst/>
          </a:prstGeom>
        </p:spPr>
      </p:pic>
      <p:pic>
        <p:nvPicPr>
          <p:cNvPr id="20" name="图片 19"/>
          <p:cNvPicPr>
            <a:picLocks noChangeAspect="1"/>
          </p:cNvPicPr>
          <p:nvPr/>
        </p:nvPicPr>
        <p:blipFill>
          <a:blip r:embed="rId11"/>
          <a:stretch>
            <a:fillRect/>
          </a:stretch>
        </p:blipFill>
        <p:spPr>
          <a:xfrm>
            <a:off x="6096000" y="1856105"/>
            <a:ext cx="4929505" cy="17481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mj-lt"/>
                <a:ea typeface="Poppins"/>
                <a:cs typeface="+mj-lt"/>
                <a:sym typeface="Poppins"/>
              </a:rPr>
              <a:t>Version Control &amp; Development Process</a:t>
            </a:r>
            <a:endParaRPr lang="en-US" sz="1100">
              <a:latin typeface="+mj-lt"/>
              <a:cs typeface="+mj-lt"/>
            </a:endParaRPr>
          </a:p>
        </p:txBody>
      </p:sp>
      <p:sp>
        <p:nvSpPr>
          <p:cNvPr id="4" name="AutoShape 4"/>
          <p:cNvSpPr/>
          <p:nvPr/>
        </p:nvSpPr>
        <p:spPr>
          <a:xfrm>
            <a:off x="762000" y="1524000"/>
            <a:ext cx="5207000" cy="1905000"/>
          </a:xfrm>
          <a:prstGeom prst="roundRect">
            <a:avLst>
              <a:gd name="adj" fmla="val 8000"/>
            </a:avLst>
          </a:prstGeom>
          <a:solidFill>
            <a:srgbClr val="FFFFFF">
              <a:alpha val="95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1714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FD1C5"/>
                </a:solidFill>
                <a:latin typeface="Arial" panose="020B0604020202020204" pitchFamily="34" charset="0"/>
                <a:ea typeface="Poppins"/>
                <a:cs typeface="Arial" panose="020B0604020202020204" pitchFamily="34" charset="0"/>
                <a:sym typeface="Poppins"/>
              </a:rPr>
              <a:t>Commit Strategy</a:t>
            </a:r>
            <a:endParaRPr lang="en-US" sz="1100">
              <a:latin typeface="Arial" panose="020B0604020202020204" pitchFamily="34" charset="0"/>
              <a:cs typeface="Arial" panose="020B0604020202020204" pitchFamily="34" charset="0"/>
            </a:endParaRPr>
          </a:p>
        </p:txBody>
      </p:sp>
      <p:sp>
        <p:nvSpPr>
          <p:cNvPr id="6" name="AutoShape 6"/>
          <p:cNvSpPr/>
          <p:nvPr/>
        </p:nvSpPr>
        <p:spPr>
          <a:xfrm>
            <a:off x="1016000" y="2222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4A556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a:t>
            </a:r>
            <a:r>
              <a:rPr lang="en-US" sz="1200" b="1" i="0" u="none" strike="noStrike">
                <a:solidFill>
                  <a:srgbClr val="4A556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Incremental &amp; Feature-based:</a:t>
            </a:r>
            <a:r>
              <a:rPr lang="en-US" sz="1200" b="0" i="0" u="none" strike="noStrike">
                <a:solidFill>
                  <a:srgbClr val="4A556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Standardized format (e.g., `feat: auth`, `fix: import`).</a:t>
            </a:r>
            <a:endParaRPr lang="en-US" sz="1100">
              <a:latin typeface="Arial" panose="020B0604020202020204" pitchFamily="34" charset="0"/>
              <a:cs typeface="Arial" panose="020B0604020202020204" pitchFamily="34" charset="0"/>
            </a:endParaRPr>
          </a:p>
          <a:p>
            <a:pPr indent="0" algn="l">
              <a:lnSpc>
                <a:spcPct val="117000"/>
              </a:lnSpc>
            </a:pPr>
            <a:r>
              <a:rPr lang="en-US" sz="1200" b="0" i="0" u="none" strike="noStrike">
                <a:solidFill>
                  <a:srgbClr val="4A556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a:t>
            </a:r>
            <a:r>
              <a:rPr lang="en-US" sz="1200" b="1" i="0" u="none" strike="noStrike">
                <a:solidFill>
                  <a:srgbClr val="4A556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Traceable History:</a:t>
            </a:r>
            <a:r>
              <a:rPr lang="en-US" sz="1200" b="0" i="0" u="none" strike="noStrike">
                <a:solidFill>
                  <a:srgbClr val="4A556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Task-focused commit messages for full auditability.</a:t>
            </a:r>
            <a:endParaRPr lang="en-US" sz="1200" b="0" i="0" u="none" strike="noStrike">
              <a:solidFill>
                <a:srgbClr val="4A556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endParaRPr>
          </a:p>
        </p:txBody>
      </p:sp>
      <p:sp>
        <p:nvSpPr>
          <p:cNvPr id="7" name="AutoShape 7"/>
          <p:cNvSpPr/>
          <p:nvPr/>
        </p:nvSpPr>
        <p:spPr>
          <a:xfrm>
            <a:off x="762000" y="3683000"/>
            <a:ext cx="5207000" cy="2286000"/>
          </a:xfrm>
          <a:prstGeom prst="roundRect">
            <a:avLst>
              <a:gd name="adj" fmla="val 6666"/>
            </a:avLst>
          </a:prstGeom>
          <a:solidFill>
            <a:srgbClr val="FFFFFF">
              <a:alpha val="95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8" name="AutoShape 8"/>
          <p:cNvSpPr/>
          <p:nvPr/>
        </p:nvSpPr>
        <p:spPr>
          <a:xfrm>
            <a:off x="1016000" y="3873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FD1C5"/>
                </a:solidFill>
                <a:latin typeface="+mn-lt"/>
                <a:ea typeface="Poppins"/>
                <a:cs typeface="+mn-lt"/>
                <a:sym typeface="Poppins"/>
              </a:rPr>
              <a:t>Codebase Evolution</a:t>
            </a:r>
            <a:endParaRPr lang="en-US" sz="1100">
              <a:latin typeface="+mn-lt"/>
              <a:cs typeface="+mn-lt"/>
            </a:endParaRPr>
          </a:p>
        </p:txBody>
      </p:sp>
      <p:sp>
        <p:nvSpPr>
          <p:cNvPr id="9" name="AutoShape 9"/>
          <p:cNvSpPr/>
          <p:nvPr/>
        </p:nvSpPr>
        <p:spPr>
          <a:xfrm>
            <a:off x="1016000" y="4381500"/>
            <a:ext cx="4699000" cy="584200"/>
          </a:xfrm>
          <a:prstGeom prst="roundRect">
            <a:avLst>
              <a:gd name="adj" fmla="val 13043"/>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143000" y="4445000"/>
            <a:ext cx="4445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2D374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Core API → Authentication → Analytics → Data Optimization → Docs</a:t>
            </a:r>
            <a:endParaRPr lang="en-US" sz="1100">
              <a:latin typeface="Arial" panose="020B0604020202020204" pitchFamily="34" charset="0"/>
              <a:cs typeface="Arial" panose="020B0604020202020204" pitchFamily="34" charset="0"/>
            </a:endParaRPr>
          </a:p>
        </p:txBody>
      </p:sp>
      <p:sp>
        <p:nvSpPr>
          <p:cNvPr id="11" name="AutoShape 11"/>
          <p:cNvSpPr/>
          <p:nvPr/>
        </p:nvSpPr>
        <p:spPr>
          <a:xfrm>
            <a:off x="1016000" y="51435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4A556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Demonstrates iterative engineering and progressive workflow.</a:t>
            </a:r>
            <a:endParaRPr lang="en-US" sz="1100">
              <a:latin typeface="Arial" panose="020B0604020202020204" pitchFamily="34" charset="0"/>
              <a:cs typeface="Arial" panose="020B0604020202020204" pitchFamily="34" charset="0"/>
            </a:endParaRPr>
          </a:p>
          <a:p>
            <a:pPr indent="0" algn="l">
              <a:lnSpc>
                <a:spcPct val="108000"/>
              </a:lnSpc>
            </a:pPr>
            <a:r>
              <a:rPr lang="en-US" sz="1200" b="0" i="0" u="none" strike="noStrike">
                <a:solidFill>
                  <a:srgbClr val="4A556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Strict separation of bug fixes from feature work (no "final dump").</a:t>
            </a:r>
            <a:endParaRPr lang="en-US" sz="1200" b="0" i="0" u="none" strike="noStrike">
              <a:solidFill>
                <a:srgbClr val="4A556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endParaRPr>
          </a:p>
        </p:txBody>
      </p:sp>
      <p:sp>
        <p:nvSpPr>
          <p:cNvPr id="12" name="AutoShape 12"/>
          <p:cNvSpPr/>
          <p:nvPr/>
        </p:nvSpPr>
        <p:spPr>
          <a:xfrm>
            <a:off x="6317615" y="1397000"/>
            <a:ext cx="5546725" cy="4831715"/>
          </a:xfrm>
          <a:prstGeom prst="roundRect">
            <a:avLst>
              <a:gd name="adj" fmla="val 6666"/>
            </a:avLst>
          </a:prstGeom>
          <a:solidFill>
            <a:srgbClr val="FFFFFF">
              <a:alpha val="95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18" name="图片 17"/>
          <p:cNvPicPr>
            <a:picLocks noChangeAspect="1"/>
          </p:cNvPicPr>
          <p:nvPr/>
        </p:nvPicPr>
        <p:blipFill>
          <a:blip r:embed="rId2"/>
          <a:stretch>
            <a:fillRect/>
          </a:stretch>
        </p:blipFill>
        <p:spPr>
          <a:xfrm>
            <a:off x="6604000" y="2268220"/>
            <a:ext cx="4733290" cy="3848735"/>
          </a:xfrm>
          <a:prstGeom prst="rect">
            <a:avLst/>
          </a:prstGeom>
        </p:spPr>
      </p:pic>
      <p:sp>
        <p:nvSpPr>
          <p:cNvPr id="19" name="文本框 18"/>
          <p:cNvSpPr txBox="1"/>
          <p:nvPr/>
        </p:nvSpPr>
        <p:spPr>
          <a:xfrm>
            <a:off x="6866255" y="1522730"/>
            <a:ext cx="4518025" cy="306705"/>
          </a:xfrm>
          <a:prstGeom prst="rect">
            <a:avLst/>
          </a:prstGeom>
          <a:noFill/>
        </p:spPr>
        <p:txBody>
          <a:bodyPr wrap="square" rtlCol="0">
            <a:spAutoFit/>
          </a:bodyPr>
          <a:p>
            <a:r>
              <a:rPr lang="en-US" altLang="zh-CN"/>
              <a:t>part of the commits history</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Arial" panose="020B0604020202020204" pitchFamily="34" charset="0"/>
                <a:ea typeface="Poppins"/>
                <a:cs typeface="Arial" panose="020B0604020202020204" pitchFamily="34" charset="0"/>
                <a:sym typeface="Poppins"/>
              </a:rPr>
              <a:t>API Documentation</a:t>
            </a:r>
            <a:endParaRPr lang="en-US" sz="1100">
              <a:latin typeface="Arial" panose="020B0604020202020204" pitchFamily="34" charset="0"/>
              <a:cs typeface="Arial" panose="020B0604020202020204" pitchFamily="34" charset="0"/>
            </a:endParaRPr>
          </a:p>
        </p:txBody>
      </p:sp>
      <p:sp>
        <p:nvSpPr>
          <p:cNvPr id="4" name="AutoShape 4"/>
          <p:cNvSpPr/>
          <p:nvPr/>
        </p:nvSpPr>
        <p:spPr>
          <a:xfrm>
            <a:off x="762000" y="1524000"/>
            <a:ext cx="5080000" cy="1905000"/>
          </a:xfrm>
          <a:prstGeom prst="roundRect">
            <a:avLst>
              <a:gd name="adj" fmla="val 80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1778000"/>
            <a:ext cx="762000" cy="762000"/>
          </a:xfrm>
          <a:prstGeom prst="ellipse">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9200" y="1981200"/>
            <a:ext cx="355600" cy="355600"/>
          </a:xfrm>
          <a:prstGeom prst="rect">
            <a:avLst/>
          </a:prstGeom>
        </p:spPr>
      </p:pic>
      <p:sp>
        <p:nvSpPr>
          <p:cNvPr id="7" name="AutoShape 7"/>
          <p:cNvSpPr/>
          <p:nvPr/>
        </p:nvSpPr>
        <p:spPr>
          <a:xfrm>
            <a:off x="2032000" y="1778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FD1C5"/>
                </a:solidFill>
                <a:latin typeface="+mj-lt"/>
                <a:ea typeface="Poppins"/>
                <a:cs typeface="+mj-lt"/>
                <a:sym typeface="Poppins"/>
              </a:rPr>
              <a:t>Documentation Coverage</a:t>
            </a:r>
            <a:endParaRPr lang="en-US" sz="1100">
              <a:latin typeface="+mj-lt"/>
              <a:cs typeface="+mj-lt"/>
            </a:endParaRPr>
          </a:p>
        </p:txBody>
      </p:sp>
      <p:sp>
        <p:nvSpPr>
          <p:cNvPr id="8" name="AutoShape 8"/>
          <p:cNvSpPr/>
          <p:nvPr/>
        </p:nvSpPr>
        <p:spPr>
          <a:xfrm>
            <a:off x="2032000" y="2286000"/>
            <a:ext cx="3429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71809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Full endpoint specs for Auth, Books &amp; Analytics modules</a:t>
            </a:r>
            <a:endParaRPr lang="en-US" sz="1100">
              <a:latin typeface="Arial" panose="020B0604020202020204" pitchFamily="34" charset="0"/>
              <a:cs typeface="Arial" panose="020B0604020202020204" pitchFamily="34" charset="0"/>
            </a:endParaRPr>
          </a:p>
          <a:p>
            <a:pPr indent="0" algn="l">
              <a:lnSpc>
                <a:spcPct val="117000"/>
              </a:lnSpc>
            </a:pPr>
            <a:r>
              <a:rPr lang="en-US" sz="1200" b="0" i="0" u="none" strike="noStrike">
                <a:solidFill>
                  <a:srgbClr val="71809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Complete schemas, HTTP codes &amp; auth examples included</a:t>
            </a:r>
            <a:endParaRPr lang="en-US" sz="1200" b="0" i="0" u="none" strike="noStrike">
              <a:solidFill>
                <a:srgbClr val="71809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endParaRPr>
          </a:p>
        </p:txBody>
      </p:sp>
      <p:sp>
        <p:nvSpPr>
          <p:cNvPr id="9" name="AutoShape 9"/>
          <p:cNvSpPr/>
          <p:nvPr/>
        </p:nvSpPr>
        <p:spPr>
          <a:xfrm>
            <a:off x="762000" y="3683000"/>
            <a:ext cx="5080000" cy="2032000"/>
          </a:xfrm>
          <a:prstGeom prst="roundRect">
            <a:avLst>
              <a:gd name="adj" fmla="val 7500"/>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nvSpPr>
        <p:spPr>
          <a:xfrm>
            <a:off x="1016000" y="3937000"/>
            <a:ext cx="762000" cy="762000"/>
          </a:xfrm>
          <a:prstGeom prst="ellipse">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19200" y="4140200"/>
            <a:ext cx="355600" cy="355600"/>
          </a:xfrm>
          <a:prstGeom prst="rect">
            <a:avLst/>
          </a:prstGeom>
        </p:spPr>
      </p:pic>
      <p:sp>
        <p:nvSpPr>
          <p:cNvPr id="12" name="AutoShape 12"/>
          <p:cNvSpPr/>
          <p:nvPr/>
        </p:nvSpPr>
        <p:spPr>
          <a:xfrm>
            <a:off x="2032000" y="3937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FD1C5"/>
                </a:solidFill>
                <a:latin typeface="+mj-lt"/>
                <a:ea typeface="Poppins"/>
                <a:cs typeface="+mj-lt"/>
                <a:sym typeface="Poppins"/>
              </a:rPr>
              <a:t>Accessibility</a:t>
            </a:r>
            <a:endParaRPr lang="en-US" sz="1100">
              <a:latin typeface="+mj-lt"/>
              <a:cs typeface="+mj-lt"/>
            </a:endParaRPr>
          </a:p>
        </p:txBody>
      </p:sp>
      <p:sp>
        <p:nvSpPr>
          <p:cNvPr id="13" name="AutoShape 13"/>
          <p:cNvSpPr/>
          <p:nvPr/>
        </p:nvSpPr>
        <p:spPr>
          <a:xfrm>
            <a:off x="2032000" y="4445000"/>
            <a:ext cx="3429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718096"/>
                </a:solidFill>
                <a:latin typeface="+mj-lt"/>
                <a:ea typeface="Noto Sans SC" panose="020B0200000000000000" charset="-122"/>
                <a:cs typeface="+mj-lt"/>
                <a:sym typeface="Noto Sans SC" panose="020B0200000000000000" charset="-122"/>
              </a:rPr>
              <a:t>• Stored locally:</a:t>
            </a:r>
            <a:r>
              <a:rPr lang="en-US" sz="1200" b="1" i="0" u="none" strike="noStrike">
                <a:solidFill>
                  <a:srgbClr val="718096"/>
                </a:solidFill>
                <a:latin typeface="+mj-lt"/>
                <a:ea typeface="Noto Sans SC" panose="020B0200000000000000" charset="-122"/>
                <a:cs typeface="+mj-lt"/>
                <a:sym typeface="Noto Sans SC" panose="020B0200000000000000" charset="-122"/>
              </a:rPr>
              <a:t>docs/API_DOCUMENTATION.pdf</a:t>
            </a:r>
            <a:endParaRPr lang="en-US" sz="1100">
              <a:latin typeface="+mj-lt"/>
              <a:cs typeface="+mj-lt"/>
            </a:endParaRPr>
          </a:p>
          <a:p>
            <a:pPr indent="0" algn="l">
              <a:lnSpc>
                <a:spcPct val="117000"/>
              </a:lnSpc>
            </a:pPr>
            <a:r>
              <a:rPr lang="en-US" sz="1200" b="0" i="0" u="none" strike="noStrike">
                <a:solidFill>
                  <a:srgbClr val="718096"/>
                </a:solidFill>
                <a:latin typeface="+mj-lt"/>
                <a:ea typeface="Noto Sans SC" panose="020B0200000000000000" charset="-122"/>
                <a:cs typeface="+mj-lt"/>
                <a:sym typeface="Noto Sans SC" panose="020B0200000000000000" charset="-122"/>
              </a:rPr>
              <a:t>• Supports offline review &amp; live demo testing workflows</a:t>
            </a:r>
            <a:endParaRPr lang="en-US" sz="1200" b="0" i="0" u="none" strike="noStrike">
              <a:solidFill>
                <a:srgbClr val="718096"/>
              </a:solidFill>
              <a:latin typeface="+mj-lt"/>
              <a:ea typeface="Noto Sans SC" panose="020B0200000000000000" charset="-122"/>
              <a:cs typeface="+mj-lt"/>
              <a:sym typeface="Noto Sans SC" panose="020B0200000000000000" charset="-122"/>
            </a:endParaRPr>
          </a:p>
        </p:txBody>
      </p:sp>
      <p:pic>
        <p:nvPicPr>
          <p:cNvPr id="17" name="图片 16"/>
          <p:cNvPicPr>
            <a:picLocks noChangeAspect="1"/>
          </p:cNvPicPr>
          <p:nvPr/>
        </p:nvPicPr>
        <p:blipFill>
          <a:blip r:embed="rId6"/>
          <a:stretch>
            <a:fillRect/>
          </a:stretch>
        </p:blipFill>
        <p:spPr>
          <a:xfrm>
            <a:off x="6232525" y="1778000"/>
            <a:ext cx="5269865" cy="36645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9" name="AutoShape 4"/>
          <p:cNvSpPr/>
          <p:nvPr/>
        </p:nvSpPr>
        <p:spPr>
          <a:xfrm>
            <a:off x="6230620" y="1587500"/>
            <a:ext cx="5830570" cy="4763135"/>
          </a:xfrm>
          <a:prstGeom prst="roundRect">
            <a:avLst>
              <a:gd name="adj" fmla="val 6666"/>
            </a:avLst>
          </a:prstGeom>
          <a:solidFill>
            <a:srgbClr val="FFFFFF">
              <a:alpha val="95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mj-lt"/>
                <a:ea typeface="Poppins"/>
                <a:cs typeface="+mj-lt"/>
                <a:sym typeface="Poppins"/>
              </a:rPr>
              <a:t>Technical Report Highlights</a:t>
            </a:r>
            <a:endParaRPr lang="en-US" sz="1100">
              <a:latin typeface="+mj-lt"/>
              <a:cs typeface="+mj-lt"/>
            </a:endParaRPr>
          </a:p>
        </p:txBody>
      </p:sp>
      <p:sp>
        <p:nvSpPr>
          <p:cNvPr id="4" name="AutoShape 4"/>
          <p:cNvSpPr/>
          <p:nvPr/>
        </p:nvSpPr>
        <p:spPr>
          <a:xfrm>
            <a:off x="762000" y="1524000"/>
            <a:ext cx="5080000" cy="2286000"/>
          </a:xfrm>
          <a:prstGeom prst="roundRect">
            <a:avLst>
              <a:gd name="adj" fmla="val 6666"/>
            </a:avLst>
          </a:prstGeom>
          <a:solidFill>
            <a:srgbClr val="FFFFFF">
              <a:alpha val="95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17145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FD1C5"/>
                </a:solidFill>
                <a:latin typeface="+mj-lt"/>
                <a:ea typeface="Poppins"/>
                <a:cs typeface="+mj-lt"/>
                <a:sym typeface="Poppins"/>
              </a:rPr>
              <a:t>Technology Stack Justification</a:t>
            </a:r>
            <a:endParaRPr lang="en-US" sz="1100">
              <a:latin typeface="+mj-lt"/>
              <a:cs typeface="+mj-lt"/>
            </a:endParaR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2438400"/>
            <a:ext cx="355600" cy="355600"/>
          </a:xfrm>
          <a:prstGeom prst="rect">
            <a:avLst/>
          </a:prstGeom>
        </p:spPr>
      </p:pic>
      <p:sp>
        <p:nvSpPr>
          <p:cNvPr id="8" name="AutoShape 8"/>
          <p:cNvSpPr/>
          <p:nvPr/>
        </p:nvSpPr>
        <p:spPr>
          <a:xfrm>
            <a:off x="1587500" y="2349500"/>
            <a:ext cx="152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2D374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FastAPI</a:t>
            </a:r>
            <a:br>
              <a:rPr lang="en-US" sz="1600" b="0"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br>
            <a:r>
              <a:rPr lang="en-US" sz="1000" b="0" i="0" u="none" strike="noStrike">
                <a:solidFill>
                  <a:srgbClr val="71809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Static typing &amp; high perf</a:t>
            </a:r>
            <a:endParaRPr lang="en-US" sz="1100">
              <a:latin typeface="Arial" panose="020B0604020202020204" pitchFamily="34" charset="0"/>
              <a:cs typeface="Arial" panose="020B0604020202020204" pitchFamily="34" charset="0"/>
            </a:endParaR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56000" y="2438400"/>
            <a:ext cx="355600" cy="355600"/>
          </a:xfrm>
          <a:prstGeom prst="rect">
            <a:avLst/>
          </a:prstGeom>
        </p:spPr>
      </p:pic>
      <p:sp>
        <p:nvSpPr>
          <p:cNvPr id="11" name="AutoShape 11"/>
          <p:cNvSpPr/>
          <p:nvPr/>
        </p:nvSpPr>
        <p:spPr>
          <a:xfrm>
            <a:off x="4000500" y="2349500"/>
            <a:ext cx="152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2D3748"/>
                </a:solidFill>
                <a:latin typeface="+mj-lt"/>
                <a:ea typeface="Noto Sans SC" panose="020B0200000000000000" charset="-122"/>
                <a:cs typeface="+mj-lt"/>
                <a:sym typeface="Noto Sans SC" panose="020B0200000000000000" charset="-122"/>
              </a:rPr>
              <a:t>SQLAlchemy</a:t>
            </a:r>
            <a:br>
              <a:rPr lang="en-US" sz="1600" b="0" i="0" u="none" strike="noStrike">
                <a:solidFill>
                  <a:srgbClr val="1F2329"/>
                </a:solidFill>
                <a:latin typeface="+mj-lt"/>
                <a:ea typeface="Noto Sans SC" panose="020B0200000000000000" charset="-122"/>
                <a:cs typeface="+mj-lt"/>
                <a:sym typeface="Noto Sans SC" panose="020B0200000000000000" charset="-122"/>
              </a:rPr>
            </a:br>
            <a:r>
              <a:rPr lang="en-US" sz="1000" b="0" i="0" u="none" strike="noStrike">
                <a:solidFill>
                  <a:srgbClr val="718096"/>
                </a:solidFill>
                <a:latin typeface="+mj-lt"/>
                <a:ea typeface="Noto Sans SC" panose="020B0200000000000000" charset="-122"/>
                <a:cs typeface="+mj-lt"/>
                <a:sym typeface="Noto Sans SC" panose="020B0200000000000000" charset="-122"/>
              </a:rPr>
              <a:t>Robust ORM mapping</a:t>
            </a:r>
            <a:endParaRPr lang="en-US" sz="1100">
              <a:latin typeface="+mj-lt"/>
              <a:cs typeface="+mj-lt"/>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3238500"/>
            <a:ext cx="355600" cy="355600"/>
          </a:xfrm>
          <a:prstGeom prst="rect">
            <a:avLst/>
          </a:prstGeom>
        </p:spPr>
      </p:pic>
      <p:sp>
        <p:nvSpPr>
          <p:cNvPr id="14" name="AutoShape 14"/>
          <p:cNvSpPr/>
          <p:nvPr/>
        </p:nvSpPr>
        <p:spPr>
          <a:xfrm>
            <a:off x="1587500" y="3048000"/>
            <a:ext cx="152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2D3748"/>
                </a:solidFill>
                <a:latin typeface="+mj-lt"/>
                <a:ea typeface="Noto Sans SC" panose="020B0200000000000000" charset="-122"/>
                <a:cs typeface="+mj-lt"/>
                <a:sym typeface="Noto Sans SC" panose="020B0200000000000000" charset="-122"/>
              </a:rPr>
              <a:t>Dual DB Support</a:t>
            </a:r>
            <a:br>
              <a:rPr lang="en-US" sz="1600" b="0" i="0" u="none" strike="noStrike">
                <a:solidFill>
                  <a:srgbClr val="1F2329"/>
                </a:solidFill>
                <a:latin typeface="+mj-lt"/>
                <a:ea typeface="Noto Sans SC" panose="020B0200000000000000" charset="-122"/>
                <a:cs typeface="+mj-lt"/>
                <a:sym typeface="Noto Sans SC" panose="020B0200000000000000" charset="-122"/>
              </a:rPr>
            </a:br>
            <a:r>
              <a:rPr lang="en-US" sz="1000" b="0" i="0" u="none" strike="noStrike">
                <a:solidFill>
                  <a:srgbClr val="718096"/>
                </a:solidFill>
                <a:latin typeface="+mj-lt"/>
                <a:ea typeface="Noto Sans SC" panose="020B0200000000000000" charset="-122"/>
                <a:cs typeface="+mj-lt"/>
                <a:sym typeface="Noto Sans SC" panose="020B0200000000000000" charset="-122"/>
              </a:rPr>
              <a:t>SQLite / PostgreSQL</a:t>
            </a:r>
            <a:endParaRPr lang="en-US" sz="1100">
              <a:latin typeface="+mj-lt"/>
              <a:cs typeface="+mj-lt"/>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556000" y="3251200"/>
            <a:ext cx="355600" cy="355600"/>
          </a:xfrm>
          <a:prstGeom prst="rect">
            <a:avLst/>
          </a:prstGeom>
        </p:spPr>
      </p:pic>
      <p:sp>
        <p:nvSpPr>
          <p:cNvPr id="17" name="AutoShape 17"/>
          <p:cNvSpPr/>
          <p:nvPr/>
        </p:nvSpPr>
        <p:spPr>
          <a:xfrm>
            <a:off x="4000500" y="3048000"/>
            <a:ext cx="152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2D3748"/>
                </a:solidFill>
                <a:latin typeface="+mj-lt"/>
                <a:ea typeface="Noto Sans SC" panose="020B0200000000000000" charset="-122"/>
                <a:cs typeface="+mj-lt"/>
                <a:sym typeface="Noto Sans SC" panose="020B0200000000000000" charset="-122"/>
              </a:rPr>
              <a:t>System Architecture</a:t>
            </a:r>
            <a:br>
              <a:rPr lang="en-US" sz="1600" b="0" i="0" u="none" strike="noStrike">
                <a:solidFill>
                  <a:srgbClr val="1F2329"/>
                </a:solidFill>
                <a:latin typeface="+mj-lt"/>
                <a:ea typeface="Noto Sans SC" panose="020B0200000000000000" charset="-122"/>
                <a:cs typeface="+mj-lt"/>
                <a:sym typeface="Noto Sans SC" panose="020B0200000000000000" charset="-122"/>
              </a:rPr>
            </a:br>
            <a:r>
              <a:rPr lang="en-US" sz="1000" b="0" i="0" u="none" strike="noStrike">
                <a:solidFill>
                  <a:srgbClr val="718096"/>
                </a:solidFill>
                <a:latin typeface="+mj-lt"/>
                <a:ea typeface="Noto Sans SC" panose="020B0200000000000000" charset="-122"/>
                <a:cs typeface="+mj-lt"/>
                <a:sym typeface="Noto Sans SC" panose="020B0200000000000000" charset="-122"/>
              </a:rPr>
              <a:t>JWT + Resource Routing</a:t>
            </a:r>
            <a:endParaRPr lang="en-US" sz="1100">
              <a:latin typeface="+mj-lt"/>
              <a:cs typeface="+mj-lt"/>
            </a:endParaRPr>
          </a:p>
        </p:txBody>
      </p:sp>
      <p:sp>
        <p:nvSpPr>
          <p:cNvPr id="18" name="AutoShape 18"/>
          <p:cNvSpPr/>
          <p:nvPr/>
        </p:nvSpPr>
        <p:spPr>
          <a:xfrm>
            <a:off x="762000" y="4064000"/>
            <a:ext cx="5080000" cy="2286000"/>
          </a:xfrm>
          <a:prstGeom prst="roundRect">
            <a:avLst>
              <a:gd name="adj" fmla="val 6666"/>
            </a:avLst>
          </a:prstGeom>
          <a:solidFill>
            <a:srgbClr val="FFFFFF">
              <a:alpha val="95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9" name="AutoShape 19"/>
          <p:cNvSpPr/>
          <p:nvPr/>
        </p:nvSpPr>
        <p:spPr>
          <a:xfrm>
            <a:off x="1016000" y="42545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FD1C5"/>
                </a:solidFill>
                <a:latin typeface="Poppins"/>
                <a:ea typeface="Poppins"/>
                <a:cs typeface="Poppins"/>
                <a:sym typeface="Poppins"/>
              </a:rPr>
              <a:t>Analysis &amp; Evidence</a:t>
            </a:r>
            <a:endParaRPr lang="en-US" sz="1100"/>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43000" y="4978400"/>
            <a:ext cx="355600" cy="355600"/>
          </a:xfrm>
          <a:prstGeom prst="rect">
            <a:avLst/>
          </a:prstGeom>
        </p:spPr>
      </p:pic>
      <p:sp>
        <p:nvSpPr>
          <p:cNvPr id="22" name="AutoShape 22"/>
          <p:cNvSpPr/>
          <p:nvPr/>
        </p:nvSpPr>
        <p:spPr>
          <a:xfrm>
            <a:off x="1587500" y="4889500"/>
            <a:ext cx="152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2D3748"/>
                </a:solidFill>
                <a:latin typeface="+mj-lt"/>
                <a:ea typeface="Noto Sans SC" panose="020B0200000000000000" charset="-122"/>
                <a:cs typeface="+mj-lt"/>
                <a:sym typeface="Noto Sans SC" panose="020B0200000000000000" charset="-122"/>
              </a:rPr>
              <a:t>Dataset Methodology</a:t>
            </a:r>
            <a:br>
              <a:rPr lang="en-US" sz="1600" b="0" i="0" u="none" strike="noStrike">
                <a:solidFill>
                  <a:srgbClr val="1F2329"/>
                </a:solidFill>
                <a:latin typeface="+mj-lt"/>
                <a:ea typeface="Noto Sans SC" panose="020B0200000000000000" charset="-122"/>
                <a:cs typeface="+mj-lt"/>
                <a:sym typeface="Noto Sans SC" panose="020B0200000000000000" charset="-122"/>
              </a:rPr>
            </a:br>
            <a:r>
              <a:rPr lang="en-US" sz="1000" b="0" i="0" u="none" strike="noStrike">
                <a:solidFill>
                  <a:srgbClr val="718096"/>
                </a:solidFill>
                <a:latin typeface="+mj-lt"/>
                <a:ea typeface="Noto Sans SC" panose="020B0200000000000000" charset="-122"/>
                <a:cs typeface="+mj-lt"/>
                <a:sym typeface="Noto Sans SC" panose="020B0200000000000000" charset="-122"/>
              </a:rPr>
              <a:t>0–10 Rating Scale Logic</a:t>
            </a:r>
            <a:endParaRPr lang="en-US" sz="1100">
              <a:latin typeface="+mj-lt"/>
              <a:cs typeface="+mj-lt"/>
            </a:endParaRPr>
          </a:p>
        </p:txBody>
      </p:sp>
      <p:pic>
        <p:nvPicPr>
          <p:cNvPr id="24" name="Picture 24"/>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56000" y="4978400"/>
            <a:ext cx="355600" cy="355600"/>
          </a:xfrm>
          <a:prstGeom prst="rect">
            <a:avLst/>
          </a:prstGeom>
        </p:spPr>
      </p:pic>
      <p:sp>
        <p:nvSpPr>
          <p:cNvPr id="25" name="AutoShape 25"/>
          <p:cNvSpPr/>
          <p:nvPr/>
        </p:nvSpPr>
        <p:spPr>
          <a:xfrm>
            <a:off x="4000500" y="4889500"/>
            <a:ext cx="152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2D374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Pytest Summary</a:t>
            </a:r>
            <a:br>
              <a:rPr lang="en-US" sz="1600" b="0"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br>
            <a:r>
              <a:rPr lang="en-US" sz="1000" b="0" i="0" u="none" strike="noStrike">
                <a:solidFill>
                  <a:srgbClr val="71809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Coverage &amp; Unit Tests</a:t>
            </a:r>
            <a:endParaRPr lang="en-US" sz="1100">
              <a:latin typeface="Arial" panose="020B0604020202020204" pitchFamily="34" charset="0"/>
              <a:cs typeface="Arial" panose="020B0604020202020204" pitchFamily="34" charset="0"/>
            </a:endParaRPr>
          </a:p>
        </p:txBody>
      </p:sp>
      <p:pic>
        <p:nvPicPr>
          <p:cNvPr id="27" name="Picture 27"/>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000" y="5689600"/>
            <a:ext cx="355600" cy="355600"/>
          </a:xfrm>
          <a:prstGeom prst="rect">
            <a:avLst/>
          </a:prstGeom>
        </p:spPr>
      </p:pic>
      <p:sp>
        <p:nvSpPr>
          <p:cNvPr id="28" name="AutoShape 28"/>
          <p:cNvSpPr/>
          <p:nvPr/>
        </p:nvSpPr>
        <p:spPr>
          <a:xfrm>
            <a:off x="1587500" y="5588000"/>
            <a:ext cx="152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2D3748"/>
                </a:solidFill>
                <a:latin typeface="+mj-lt"/>
                <a:ea typeface="Noto Sans SC" panose="020B0200000000000000" charset="-122"/>
                <a:cs typeface="+mj-lt"/>
                <a:sym typeface="Noto Sans SC" panose="020B0200000000000000" charset="-122"/>
              </a:rPr>
              <a:t>Deployment Validated</a:t>
            </a:r>
            <a:br>
              <a:rPr lang="en-US" sz="1600" b="0" i="0" u="none" strike="noStrike">
                <a:solidFill>
                  <a:srgbClr val="1F2329"/>
                </a:solidFill>
                <a:latin typeface="+mj-lt"/>
                <a:ea typeface="Noto Sans SC" panose="020B0200000000000000" charset="-122"/>
                <a:cs typeface="+mj-lt"/>
                <a:sym typeface="Noto Sans SC" panose="020B0200000000000000" charset="-122"/>
              </a:rPr>
            </a:br>
            <a:r>
              <a:rPr lang="en-US" sz="1000" b="0" i="0" u="none" strike="noStrike">
                <a:solidFill>
                  <a:srgbClr val="718096"/>
                </a:solidFill>
                <a:latin typeface="+mj-lt"/>
                <a:ea typeface="Noto Sans SC" panose="020B0200000000000000" charset="-122"/>
                <a:cs typeface="+mj-lt"/>
                <a:sym typeface="Noto Sans SC" panose="020B0200000000000000" charset="-122"/>
              </a:rPr>
              <a:t>CVM + Nginx Stack</a:t>
            </a:r>
            <a:endParaRPr lang="en-US" sz="1100">
              <a:latin typeface="+mj-lt"/>
              <a:cs typeface="+mj-lt"/>
            </a:endParaRPr>
          </a:p>
        </p:txBody>
      </p:sp>
      <p:pic>
        <p:nvPicPr>
          <p:cNvPr id="30" name="Picture 30"/>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556000" y="5715000"/>
            <a:ext cx="355600" cy="355600"/>
          </a:xfrm>
          <a:prstGeom prst="rect">
            <a:avLst/>
          </a:prstGeom>
        </p:spPr>
      </p:pic>
      <p:sp>
        <p:nvSpPr>
          <p:cNvPr id="31" name="AutoShape 31"/>
          <p:cNvSpPr/>
          <p:nvPr/>
        </p:nvSpPr>
        <p:spPr>
          <a:xfrm>
            <a:off x="4000500" y="5588000"/>
            <a:ext cx="152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2D374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GenAI Declaration</a:t>
            </a:r>
            <a:br>
              <a:rPr lang="en-US" sz="1600" b="0"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br>
            <a:r>
              <a:rPr lang="en-US" sz="1000" b="0" i="0" u="none" strike="noStrike">
                <a:solidFill>
                  <a:srgbClr val="71809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Logs Attached in Appendix</a:t>
            </a:r>
            <a:endParaRPr lang="en-US" sz="1100">
              <a:latin typeface="Arial" panose="020B0604020202020204" pitchFamily="34" charset="0"/>
              <a:cs typeface="Arial" panose="020B0604020202020204" pitchFamily="34" charset="0"/>
            </a:endParaRPr>
          </a:p>
        </p:txBody>
      </p:sp>
      <p:pic>
        <p:nvPicPr>
          <p:cNvPr id="38" name="图片 37"/>
          <p:cNvPicPr>
            <a:picLocks noChangeAspect="1"/>
          </p:cNvPicPr>
          <p:nvPr/>
        </p:nvPicPr>
        <p:blipFill>
          <a:blip r:embed="rId18"/>
          <a:stretch>
            <a:fillRect/>
          </a:stretch>
        </p:blipFill>
        <p:spPr>
          <a:xfrm>
            <a:off x="6779260" y="2108200"/>
            <a:ext cx="4733925" cy="4114800"/>
          </a:xfrm>
          <a:prstGeom prst="rect">
            <a:avLst/>
          </a:prstGeom>
        </p:spPr>
      </p:pic>
      <p:sp>
        <p:nvSpPr>
          <p:cNvPr id="40" name="文本框 39"/>
          <p:cNvSpPr txBox="1"/>
          <p:nvPr/>
        </p:nvSpPr>
        <p:spPr>
          <a:xfrm>
            <a:off x="7136130" y="1699260"/>
            <a:ext cx="3958590" cy="306705"/>
          </a:xfrm>
          <a:prstGeom prst="rect">
            <a:avLst/>
          </a:prstGeom>
          <a:noFill/>
        </p:spPr>
        <p:txBody>
          <a:bodyPr wrap="square" rtlCol="0">
            <a:spAutoFit/>
          </a:bodyPr>
          <a:p>
            <a:r>
              <a:rPr lang="en-US" altLang="zh-CN" b="1"/>
              <a:t>A </a:t>
            </a:r>
            <a:r>
              <a:rPr lang="en-US" altLang="zh-CN" b="1"/>
              <a:t>screenshot of GenAI</a:t>
            </a:r>
            <a:endParaRPr lang="en-US" altLang="zh-CN"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Arial" panose="020B0604020202020204" pitchFamily="34" charset="0"/>
                <a:ea typeface="Poppins"/>
                <a:cs typeface="Arial" panose="020B0604020202020204" pitchFamily="34" charset="0"/>
                <a:sym typeface="Poppins"/>
              </a:rPr>
              <a:t>System Architecture &amp; Data Model</a:t>
            </a:r>
            <a:endParaRPr lang="en-US" sz="1100">
              <a:latin typeface="Arial" panose="020B0604020202020204" pitchFamily="34" charset="0"/>
              <a:cs typeface="Arial" panose="020B0604020202020204" pitchFamily="34" charset="0"/>
            </a:endParaRPr>
          </a:p>
        </p:txBody>
      </p:sp>
      <p:sp>
        <p:nvSpPr>
          <p:cNvPr id="4" name="AutoShape 4"/>
          <p:cNvSpPr/>
          <p:nvPr/>
        </p:nvSpPr>
        <p:spPr>
          <a:xfrm>
            <a:off x="762000" y="1651000"/>
            <a:ext cx="3302000" cy="2159000"/>
          </a:xfrm>
          <a:prstGeom prst="roundRect">
            <a:avLst>
              <a:gd name="adj" fmla="val 7058"/>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1905000"/>
            <a:ext cx="508000" cy="508000"/>
          </a:xfrm>
          <a:prstGeom prst="ellipse">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7600" y="2006600"/>
            <a:ext cx="304800" cy="304800"/>
          </a:xfrm>
          <a:prstGeom prst="rect">
            <a:avLst/>
          </a:prstGeom>
        </p:spPr>
      </p:pic>
      <p:sp>
        <p:nvSpPr>
          <p:cNvPr id="7" name="AutoShape 7"/>
          <p:cNvSpPr/>
          <p:nvPr/>
        </p:nvSpPr>
        <p:spPr>
          <a:xfrm>
            <a:off x="1714500" y="1968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Arial" panose="020B0604020202020204" pitchFamily="34" charset="0"/>
                <a:ea typeface="Poppins"/>
                <a:cs typeface="Arial" panose="020B0604020202020204" pitchFamily="34" charset="0"/>
                <a:sym typeface="Poppins"/>
              </a:rPr>
              <a:t>System Execution Flow</a:t>
            </a:r>
            <a:endParaRPr lang="en-US" sz="1100">
              <a:latin typeface="Arial" panose="020B0604020202020204" pitchFamily="34" charset="0"/>
              <a:cs typeface="Arial" panose="020B0604020202020204" pitchFamily="34" charset="0"/>
            </a:endParaRPr>
          </a:p>
        </p:txBody>
      </p:sp>
      <p:sp>
        <p:nvSpPr>
          <p:cNvPr id="8" name="AutoShape 8"/>
          <p:cNvSpPr/>
          <p:nvPr/>
        </p:nvSpPr>
        <p:spPr>
          <a:xfrm>
            <a:off x="1016000" y="2667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4A5568"/>
                </a:solidFill>
                <a:latin typeface="Arial" panose="020B0604020202020204" pitchFamily="34" charset="0"/>
                <a:ea typeface="Poppins"/>
                <a:cs typeface="Arial" panose="020B0604020202020204" pitchFamily="34" charset="0"/>
                <a:sym typeface="Poppins"/>
              </a:rPr>
              <a:t>Client → FastAPI Routes → Service Layer → SQLAlchemy ORM → Database → JSON Response</a:t>
            </a:r>
            <a:endParaRPr lang="en-US" sz="1100">
              <a:latin typeface="Arial" panose="020B0604020202020204" pitchFamily="34" charset="0"/>
              <a:cs typeface="Arial" panose="020B0604020202020204" pitchFamily="34" charset="0"/>
            </a:endParaRPr>
          </a:p>
        </p:txBody>
      </p:sp>
      <p:sp>
        <p:nvSpPr>
          <p:cNvPr id="9" name="AutoShape 9"/>
          <p:cNvSpPr/>
          <p:nvPr/>
        </p:nvSpPr>
        <p:spPr>
          <a:xfrm>
            <a:off x="762000" y="4064000"/>
            <a:ext cx="3302000" cy="2159000"/>
          </a:xfrm>
          <a:prstGeom prst="roundRect">
            <a:avLst>
              <a:gd name="adj" fmla="val 7058"/>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nvSpPr>
        <p:spPr>
          <a:xfrm>
            <a:off x="1016000" y="4318000"/>
            <a:ext cx="508000" cy="508000"/>
          </a:xfrm>
          <a:prstGeom prst="ellipse">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7600" y="4419600"/>
            <a:ext cx="304800" cy="304800"/>
          </a:xfrm>
          <a:prstGeom prst="rect">
            <a:avLst/>
          </a:prstGeom>
        </p:spPr>
      </p:pic>
      <p:sp>
        <p:nvSpPr>
          <p:cNvPr id="12" name="AutoShape 12"/>
          <p:cNvSpPr/>
          <p:nvPr/>
        </p:nvSpPr>
        <p:spPr>
          <a:xfrm>
            <a:off x="1714500" y="4381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mj-lt"/>
                <a:ea typeface="Poppins"/>
                <a:cs typeface="+mj-lt"/>
                <a:sym typeface="Poppins"/>
              </a:rPr>
              <a:t>Core Data Schema</a:t>
            </a:r>
            <a:endParaRPr lang="en-US" sz="1100">
              <a:latin typeface="+mj-lt"/>
              <a:cs typeface="+mj-lt"/>
            </a:endParaRPr>
          </a:p>
        </p:txBody>
      </p:sp>
      <p:sp>
        <p:nvSpPr>
          <p:cNvPr id="13" name="AutoShape 13"/>
          <p:cNvSpPr/>
          <p:nvPr/>
        </p:nvSpPr>
        <p:spPr>
          <a:xfrm>
            <a:off x="1016000" y="5080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4A5568"/>
                </a:solidFill>
                <a:latin typeface="Arial" panose="020B0604020202020204" pitchFamily="34" charset="0"/>
                <a:ea typeface="Poppins"/>
                <a:cs typeface="Arial" panose="020B0604020202020204" pitchFamily="34" charset="0"/>
                <a:sym typeface="Poppins"/>
              </a:rPr>
              <a:t>• User: Account credentials &amp; profile data</a:t>
            </a:r>
            <a:br>
              <a:rPr lang="en-US" sz="1100" b="0" i="0" u="none" strike="noStrike">
                <a:solidFill>
                  <a:srgbClr val="4A5568"/>
                </a:solidFill>
                <a:latin typeface="Arial" panose="020B0604020202020204" pitchFamily="34" charset="0"/>
                <a:ea typeface="Poppins"/>
                <a:cs typeface="Arial" panose="020B0604020202020204" pitchFamily="34" charset="0"/>
                <a:sym typeface="Poppins"/>
              </a:rPr>
            </a:br>
            <a:r>
              <a:rPr lang="en-US" sz="1100" b="0" i="0" u="none" strike="noStrike">
                <a:solidFill>
                  <a:srgbClr val="4A5568"/>
                </a:solidFill>
                <a:latin typeface="Arial" panose="020B0604020202020204" pitchFamily="34" charset="0"/>
                <a:ea typeface="Poppins"/>
                <a:cs typeface="Arial" panose="020B0604020202020204" pitchFamily="34" charset="0"/>
                <a:sym typeface="Poppins"/>
              </a:rPr>
              <a:t>• Book: Title, author, genre, &amp; ratings info</a:t>
            </a:r>
            <a:endParaRPr lang="en-US" sz="1100">
              <a:latin typeface="Arial" panose="020B0604020202020204" pitchFamily="34" charset="0"/>
              <a:cs typeface="Arial" panose="020B0604020202020204" pitchFamily="34" charset="0"/>
            </a:endParaRPr>
          </a:p>
        </p:txBody>
      </p:sp>
      <p:sp>
        <p:nvSpPr>
          <p:cNvPr id="14" name="AutoShape 14"/>
          <p:cNvSpPr/>
          <p:nvPr/>
        </p:nvSpPr>
        <p:spPr>
          <a:xfrm>
            <a:off x="4318000" y="1651000"/>
            <a:ext cx="3302000" cy="4572000"/>
          </a:xfrm>
          <a:prstGeom prst="roundRect">
            <a:avLst>
              <a:gd name="adj" fmla="val 6153"/>
            </a:avLst>
          </a:prstGeom>
          <a:solidFill>
            <a:srgbClr val="FFFFFF">
              <a:alpha val="90000"/>
            </a:srgbClr>
          </a:solidFill>
          <a:ln w="25400" cap="flat" cmpd="sng">
            <a:solidFill>
              <a:srgbClr val="4FD1C5">
                <a:alpha val="50000"/>
              </a:srgbClr>
            </a:solidFill>
            <a:prstDash val="dash"/>
            <a:round/>
          </a:ln>
          <a:effectLst>
            <a:outerShdw blurRad="254000" dist="76200" dir="5400000" algn="tl" rotWithShape="0">
              <a:srgbClr val="000000">
                <a:alpha val="6000"/>
              </a:srgbClr>
            </a:outerShdw>
          </a:effectLst>
        </p:spPr>
        <p:txBody>
          <a:bodyPr vert="horz" wrap="square" lIns="63500" tIns="63500" rIns="63500" bIns="63500" rtlCol="0" anchor="ctr"/>
          <a:lstStyle/>
          <a:p>
            <a:pPr algn="ctr">
              <a:defRPr/>
            </a:pPr>
          </a:p>
        </p:txBody>
      </p:sp>
      <p:sp>
        <p:nvSpPr>
          <p:cNvPr id="18" name="AutoShape 18"/>
          <p:cNvSpPr/>
          <p:nvPr/>
        </p:nvSpPr>
        <p:spPr>
          <a:xfrm>
            <a:off x="7874000" y="1651000"/>
            <a:ext cx="3556000" cy="4572000"/>
          </a:xfrm>
          <a:prstGeom prst="roundRect">
            <a:avLst>
              <a:gd name="adj" fmla="val 4285"/>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9" name="AutoShape 19"/>
          <p:cNvSpPr/>
          <p:nvPr/>
        </p:nvSpPr>
        <p:spPr>
          <a:xfrm>
            <a:off x="8128000" y="1905000"/>
            <a:ext cx="508000" cy="508000"/>
          </a:xfrm>
          <a:prstGeom prst="ellipse">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29600" y="2006600"/>
            <a:ext cx="304800" cy="304800"/>
          </a:xfrm>
          <a:prstGeom prst="rect">
            <a:avLst/>
          </a:prstGeom>
        </p:spPr>
      </p:pic>
      <p:sp>
        <p:nvSpPr>
          <p:cNvPr id="21" name="AutoShape 21"/>
          <p:cNvSpPr/>
          <p:nvPr/>
        </p:nvSpPr>
        <p:spPr>
          <a:xfrm>
            <a:off x="8890000" y="19685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Arial" panose="020B0604020202020204" pitchFamily="34" charset="0"/>
                <a:ea typeface="Poppins"/>
                <a:cs typeface="Arial" panose="020B0604020202020204" pitchFamily="34" charset="0"/>
                <a:sym typeface="Poppins"/>
              </a:rPr>
              <a:t>Recommendation Logic</a:t>
            </a:r>
            <a:endParaRPr lang="en-US" sz="1100">
              <a:latin typeface="Arial" panose="020B0604020202020204" pitchFamily="34" charset="0"/>
              <a:cs typeface="Arial" panose="020B0604020202020204" pitchFamily="34" charset="0"/>
            </a:endParaRPr>
          </a:p>
        </p:txBody>
      </p:sp>
      <p:sp>
        <p:nvSpPr>
          <p:cNvPr id="22" name="AutoShape 22"/>
          <p:cNvSpPr/>
          <p:nvPr/>
        </p:nvSpPr>
        <p:spPr>
          <a:xfrm>
            <a:off x="8128000" y="2794000"/>
            <a:ext cx="3048000" cy="952500"/>
          </a:xfrm>
          <a:prstGeom prst="roundRect">
            <a:avLst>
              <a:gd name="adj" fmla="val 10666"/>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255000" y="2984500"/>
            <a:ext cx="355600" cy="355600"/>
          </a:xfrm>
          <a:prstGeom prst="ellipse">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255000" y="2984500"/>
            <a:ext cx="3556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Poppins"/>
                <a:ea typeface="Poppins"/>
                <a:cs typeface="Poppins"/>
                <a:sym typeface="Poppins"/>
              </a:rPr>
              <a:t>1</a:t>
            </a:r>
            <a:endParaRPr lang="en-US" sz="1100"/>
          </a:p>
        </p:txBody>
      </p:sp>
      <p:sp>
        <p:nvSpPr>
          <p:cNvPr id="25" name="AutoShape 25"/>
          <p:cNvSpPr/>
          <p:nvPr/>
        </p:nvSpPr>
        <p:spPr>
          <a:xfrm>
            <a:off x="8763000" y="2946400"/>
            <a:ext cx="2286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A5568"/>
                </a:solidFill>
                <a:latin typeface="+mj-lt"/>
                <a:ea typeface="Poppins"/>
                <a:cs typeface="+mj-lt"/>
                <a:sym typeface="Poppins"/>
              </a:rPr>
              <a:t>Prioritize books matching the **genre** of the user's seed book.</a:t>
            </a:r>
            <a:endParaRPr lang="en-US" sz="1100">
              <a:latin typeface="+mj-lt"/>
              <a:cs typeface="+mj-lt"/>
            </a:endParaRPr>
          </a:p>
        </p:txBody>
      </p:sp>
      <p:sp>
        <p:nvSpPr>
          <p:cNvPr id="26" name="AutoShape 26"/>
          <p:cNvSpPr/>
          <p:nvPr/>
        </p:nvSpPr>
        <p:spPr>
          <a:xfrm>
            <a:off x="8128000" y="3937000"/>
            <a:ext cx="3048000" cy="952500"/>
          </a:xfrm>
          <a:prstGeom prst="roundRect">
            <a:avLst>
              <a:gd name="adj" fmla="val 10666"/>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255000" y="4127500"/>
            <a:ext cx="355600" cy="355600"/>
          </a:xfrm>
          <a:prstGeom prst="ellipse">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8255000" y="4127500"/>
            <a:ext cx="3556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Poppins"/>
                <a:ea typeface="Poppins"/>
                <a:cs typeface="Poppins"/>
                <a:sym typeface="Poppins"/>
              </a:rPr>
              <a:t>2</a:t>
            </a:r>
            <a:endParaRPr lang="en-US" sz="1100"/>
          </a:p>
        </p:txBody>
      </p:sp>
      <p:sp>
        <p:nvSpPr>
          <p:cNvPr id="29" name="AutoShape 29"/>
          <p:cNvSpPr/>
          <p:nvPr/>
        </p:nvSpPr>
        <p:spPr>
          <a:xfrm>
            <a:off x="8763000" y="4089400"/>
            <a:ext cx="2286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A5568"/>
                </a:solidFill>
                <a:latin typeface="Arial" panose="020B0604020202020204" pitchFamily="34" charset="0"/>
                <a:ea typeface="Poppins"/>
                <a:cs typeface="Arial" panose="020B0604020202020204" pitchFamily="34" charset="0"/>
                <a:sym typeface="Poppins"/>
              </a:rPr>
              <a:t>Sort results by **average rating**, then by total number of ratings.</a:t>
            </a:r>
            <a:endParaRPr lang="en-US" sz="1100">
              <a:latin typeface="Arial" panose="020B0604020202020204" pitchFamily="34" charset="0"/>
              <a:cs typeface="Arial" panose="020B0604020202020204" pitchFamily="34" charset="0"/>
            </a:endParaRPr>
          </a:p>
        </p:txBody>
      </p:sp>
      <p:sp>
        <p:nvSpPr>
          <p:cNvPr id="30" name="AutoShape 30"/>
          <p:cNvSpPr/>
          <p:nvPr/>
        </p:nvSpPr>
        <p:spPr>
          <a:xfrm>
            <a:off x="8128000" y="5080000"/>
            <a:ext cx="3048000" cy="952500"/>
          </a:xfrm>
          <a:prstGeom prst="roundRect">
            <a:avLst>
              <a:gd name="adj" fmla="val 10666"/>
            </a:avLst>
          </a:prstGeom>
          <a:solidFill>
            <a:srgbClr val="F7FA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255000" y="5270500"/>
            <a:ext cx="355600" cy="355600"/>
          </a:xfrm>
          <a:prstGeom prst="ellipse">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8255000" y="5270500"/>
            <a:ext cx="3556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Poppins"/>
                <a:ea typeface="Poppins"/>
                <a:cs typeface="Poppins"/>
                <a:sym typeface="Poppins"/>
              </a:rPr>
              <a:t>3</a:t>
            </a:r>
            <a:endParaRPr lang="en-US" sz="1100"/>
          </a:p>
        </p:txBody>
      </p:sp>
      <p:sp>
        <p:nvSpPr>
          <p:cNvPr id="33" name="AutoShape 33"/>
          <p:cNvSpPr/>
          <p:nvPr/>
        </p:nvSpPr>
        <p:spPr>
          <a:xfrm>
            <a:off x="8763000" y="5232400"/>
            <a:ext cx="2286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A5568"/>
                </a:solidFill>
                <a:latin typeface="Arial" panose="020B0604020202020204" pitchFamily="34" charset="0"/>
                <a:ea typeface="Poppins"/>
                <a:cs typeface="Arial" panose="020B0604020202020204" pitchFamily="34" charset="0"/>
                <a:sym typeface="Poppins"/>
              </a:rPr>
              <a:t>Fallback to **global top-rated** books if insufficient matches are found.</a:t>
            </a:r>
            <a:endParaRPr lang="en-US" sz="1100">
              <a:latin typeface="Arial" panose="020B0604020202020204" pitchFamily="34" charset="0"/>
              <a:cs typeface="Arial" panose="020B0604020202020204" pitchFamily="34" charset="0"/>
            </a:endParaRPr>
          </a:p>
        </p:txBody>
      </p:sp>
      <p:pic>
        <p:nvPicPr>
          <p:cNvPr id="34" name="图片 33"/>
          <p:cNvPicPr>
            <a:picLocks noChangeAspect="1"/>
          </p:cNvPicPr>
          <p:nvPr/>
        </p:nvPicPr>
        <p:blipFill>
          <a:blip r:embed="rId8"/>
          <a:stretch>
            <a:fillRect/>
          </a:stretch>
        </p:blipFill>
        <p:spPr>
          <a:xfrm>
            <a:off x="4872355" y="1686560"/>
            <a:ext cx="2192655" cy="2059940"/>
          </a:xfrm>
          <a:prstGeom prst="rect">
            <a:avLst/>
          </a:prstGeom>
        </p:spPr>
      </p:pic>
      <p:pic>
        <p:nvPicPr>
          <p:cNvPr id="35" name="图片 34"/>
          <p:cNvPicPr>
            <a:picLocks noChangeAspect="1"/>
          </p:cNvPicPr>
          <p:nvPr/>
        </p:nvPicPr>
        <p:blipFill>
          <a:blip r:embed="rId9"/>
          <a:stretch>
            <a:fillRect/>
          </a:stretch>
        </p:blipFill>
        <p:spPr>
          <a:xfrm>
            <a:off x="4897755" y="3855720"/>
            <a:ext cx="2396490" cy="22510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Arial" panose="020B0604020202020204" pitchFamily="34" charset="0"/>
                <a:ea typeface="Poppins"/>
                <a:cs typeface="Arial" panose="020B0604020202020204" pitchFamily="34" charset="0"/>
                <a:sym typeface="Poppins"/>
              </a:rPr>
              <a:t>Testing &amp; Demo Validation</a:t>
            </a:r>
            <a:endParaRPr lang="en-US" sz="1100">
              <a:latin typeface="Arial" panose="020B0604020202020204" pitchFamily="34" charset="0"/>
              <a:cs typeface="Arial" panose="020B0604020202020204" pitchFamily="34" charset="0"/>
            </a:endParaRPr>
          </a:p>
        </p:txBody>
      </p:sp>
      <p:sp>
        <p:nvSpPr>
          <p:cNvPr id="4" name="AutoShape 4"/>
          <p:cNvSpPr/>
          <p:nvPr/>
        </p:nvSpPr>
        <p:spPr>
          <a:xfrm>
            <a:off x="762000" y="1524000"/>
            <a:ext cx="5207000" cy="1778000"/>
          </a:xfrm>
          <a:prstGeom prst="roundRect">
            <a:avLst>
              <a:gd name="adj" fmla="val 8571"/>
            </a:avLst>
          </a:prstGeom>
          <a:solidFill>
            <a:srgbClr val="FFFFFF">
              <a:alpha val="95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1714500"/>
            <a:ext cx="76200" cy="1397000"/>
          </a:xfrm>
          <a:prstGeom prst="roundRect">
            <a:avLst>
              <a:gd name="adj" fmla="val 5000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70000" y="17145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Arial" panose="020B0604020202020204" pitchFamily="34" charset="0"/>
                <a:ea typeface="Poppins"/>
                <a:cs typeface="Arial" panose="020B0604020202020204" pitchFamily="34" charset="0"/>
                <a:sym typeface="Poppins"/>
              </a:rPr>
              <a:t>Automated Testing Suite</a:t>
            </a:r>
            <a:endParaRPr lang="en-US" sz="1100">
              <a:latin typeface="Arial" panose="020B0604020202020204" pitchFamily="34" charset="0"/>
              <a:cs typeface="Arial" panose="020B0604020202020204" pitchFamily="34" charset="0"/>
            </a:endParaRPr>
          </a:p>
        </p:txBody>
      </p:sp>
      <p:sp>
        <p:nvSpPr>
          <p:cNvPr id="7" name="AutoShape 7"/>
          <p:cNvSpPr/>
          <p:nvPr/>
        </p:nvSpPr>
        <p:spPr>
          <a:xfrm>
            <a:off x="1270000" y="2222500"/>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4A556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Built with Pytest + FastAPI TestClient for robust API testing</a:t>
            </a:r>
            <a:endParaRPr lang="en-US" sz="1100">
              <a:latin typeface="Arial" panose="020B0604020202020204" pitchFamily="34" charset="0"/>
              <a:cs typeface="Arial" panose="020B0604020202020204" pitchFamily="34" charset="0"/>
            </a:endParaRPr>
          </a:p>
          <a:p>
            <a:pPr indent="0" algn="l">
              <a:lnSpc>
                <a:spcPct val="117000"/>
              </a:lnSpc>
            </a:pPr>
            <a:r>
              <a:rPr lang="en-US" sz="1200" b="0" i="0" u="none" strike="noStrike">
                <a:solidFill>
                  <a:srgbClr val="4A556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100% coverage: Auth, CRUD ops, Recommendations &amp; Analytics</a:t>
            </a:r>
            <a:endParaRPr lang="en-US" sz="1200" b="0" i="0" u="none" strike="noStrike">
              <a:solidFill>
                <a:srgbClr val="4A5568"/>
              </a:solidFill>
              <a:latin typeface="Arial" panose="020B0604020202020204" pitchFamily="34" charset="0"/>
              <a:ea typeface="Noto Sans SC" panose="020B0200000000000000" charset="-122"/>
              <a:cs typeface="Arial" panose="020B0604020202020204" pitchFamily="34" charset="0"/>
              <a:sym typeface="Noto Sans SC" panose="020B0200000000000000" charset="-122"/>
            </a:endParaRPr>
          </a:p>
        </p:txBody>
      </p:sp>
      <p:sp>
        <p:nvSpPr>
          <p:cNvPr id="8" name="AutoShape 8"/>
          <p:cNvSpPr/>
          <p:nvPr/>
        </p:nvSpPr>
        <p:spPr>
          <a:xfrm>
            <a:off x="762000" y="3556000"/>
            <a:ext cx="5207000" cy="2413000"/>
          </a:xfrm>
          <a:prstGeom prst="roundRect">
            <a:avLst>
              <a:gd name="adj" fmla="val 6315"/>
            </a:avLst>
          </a:prstGeom>
          <a:solidFill>
            <a:srgbClr val="FFFFFF">
              <a:alpha val="95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9" name="AutoShape 9"/>
          <p:cNvSpPr/>
          <p:nvPr/>
        </p:nvSpPr>
        <p:spPr>
          <a:xfrm>
            <a:off x="1016000" y="3746500"/>
            <a:ext cx="76200" cy="2032000"/>
          </a:xfrm>
          <a:prstGeom prst="roundRect">
            <a:avLst>
              <a:gd name="adj" fmla="val 5000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270000" y="37465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mn-lt"/>
                <a:ea typeface="Poppins"/>
                <a:cs typeface="+mn-lt"/>
                <a:sym typeface="Poppins"/>
              </a:rPr>
              <a:t>Execution Sequence</a:t>
            </a:r>
            <a:endParaRPr lang="en-US" sz="1100">
              <a:latin typeface="+mn-lt"/>
              <a:cs typeface="+mn-lt"/>
            </a:endParaRPr>
          </a:p>
        </p:txBody>
      </p:sp>
      <p:sp>
        <p:nvSpPr>
          <p:cNvPr id="11" name="AutoShape 11"/>
          <p:cNvSpPr/>
          <p:nvPr/>
        </p:nvSpPr>
        <p:spPr>
          <a:xfrm>
            <a:off x="1270000" y="4318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FD1C5"/>
                </a:solidFill>
                <a:latin typeface="+mj-lt"/>
                <a:ea typeface="Poppins"/>
                <a:cs typeface="+mj-lt"/>
                <a:sym typeface="Poppins"/>
              </a:rPr>
              <a:t>01.</a:t>
            </a:r>
            <a:r>
              <a:rPr lang="en-US" sz="1200" b="0" i="0" u="none" strike="noStrike">
                <a:solidFill>
                  <a:srgbClr val="4A5568"/>
                </a:solidFill>
                <a:latin typeface="+mj-lt"/>
                <a:ea typeface="Noto Sans SC" panose="020B0200000000000000" charset="-122"/>
                <a:cs typeface="+mj-lt"/>
                <a:sym typeface="Noto Sans SC" panose="020B0200000000000000" charset="-122"/>
              </a:rPr>
              <a:t>Register New User</a:t>
            </a:r>
            <a:endParaRPr lang="en-US" sz="1100">
              <a:latin typeface="+mj-lt"/>
              <a:cs typeface="+mj-lt"/>
            </a:endParaRPr>
          </a:p>
          <a:p>
            <a:pPr indent="0" algn="l">
              <a:lnSpc>
                <a:spcPct val="125000"/>
              </a:lnSpc>
            </a:pPr>
            <a:r>
              <a:rPr lang="en-US" sz="1200" b="1" i="0" u="none" strike="noStrike">
                <a:solidFill>
                  <a:srgbClr val="4FD1C5"/>
                </a:solidFill>
                <a:latin typeface="+mj-lt"/>
                <a:ea typeface="Poppins"/>
                <a:cs typeface="+mj-lt"/>
                <a:sym typeface="Poppins"/>
              </a:rPr>
              <a:t>02.</a:t>
            </a:r>
            <a:r>
              <a:rPr lang="en-US" sz="1200" b="0" i="0" u="none" strike="noStrike">
                <a:solidFill>
                  <a:srgbClr val="4A5568"/>
                </a:solidFill>
                <a:latin typeface="+mj-lt"/>
                <a:ea typeface="Noto Sans SC" panose="020B0200000000000000" charset="-122"/>
                <a:cs typeface="+mj-lt"/>
                <a:sym typeface="Noto Sans SC" panose="020B0200000000000000" charset="-122"/>
              </a:rPr>
              <a:t>Login &amp; Acquire JWT</a:t>
            </a:r>
            <a:endParaRPr lang="en-US" sz="1200" b="0" i="0" u="none" strike="noStrike">
              <a:solidFill>
                <a:srgbClr val="4A5568"/>
              </a:solidFill>
              <a:latin typeface="+mj-lt"/>
              <a:ea typeface="Noto Sans SC" panose="020B0200000000000000" charset="-122"/>
              <a:cs typeface="+mj-lt"/>
              <a:sym typeface="Noto Sans SC" panose="020B0200000000000000" charset="-122"/>
            </a:endParaRPr>
          </a:p>
          <a:p>
            <a:pPr indent="0" algn="l">
              <a:lnSpc>
                <a:spcPct val="125000"/>
              </a:lnSpc>
            </a:pPr>
            <a:r>
              <a:rPr lang="en-US" sz="1200" b="1" i="0" u="none" strike="noStrike">
                <a:solidFill>
                  <a:srgbClr val="4FD1C5"/>
                </a:solidFill>
                <a:latin typeface="+mj-lt"/>
                <a:ea typeface="Poppins"/>
                <a:cs typeface="+mj-lt"/>
                <a:sym typeface="Poppins"/>
              </a:rPr>
              <a:t>03.</a:t>
            </a:r>
            <a:r>
              <a:rPr lang="en-US" sz="1200" b="0" i="0" u="none" strike="noStrike">
                <a:solidFill>
                  <a:srgbClr val="4A5568"/>
                </a:solidFill>
                <a:latin typeface="+mj-lt"/>
                <a:ea typeface="Noto Sans SC" panose="020B0200000000000000" charset="-122"/>
                <a:cs typeface="+mj-lt"/>
                <a:sym typeface="Noto Sans SC" panose="020B0200000000000000" charset="-122"/>
              </a:rPr>
              <a:t>Execute Book CRUD</a:t>
            </a:r>
            <a:endParaRPr lang="en-US" sz="1200" b="0" i="0" u="none" strike="noStrike">
              <a:solidFill>
                <a:srgbClr val="4A5568"/>
              </a:solidFill>
              <a:latin typeface="+mj-lt"/>
              <a:ea typeface="Noto Sans SC" panose="020B0200000000000000" charset="-122"/>
              <a:cs typeface="+mj-lt"/>
              <a:sym typeface="Noto Sans SC" panose="020B0200000000000000" charset="-122"/>
            </a:endParaRPr>
          </a:p>
        </p:txBody>
      </p:sp>
      <p:sp>
        <p:nvSpPr>
          <p:cNvPr id="12" name="AutoShape 12"/>
          <p:cNvSpPr/>
          <p:nvPr/>
        </p:nvSpPr>
        <p:spPr>
          <a:xfrm>
            <a:off x="3429000" y="4318000"/>
            <a:ext cx="215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FD1C5"/>
                </a:solidFill>
                <a:latin typeface="+mj-lt"/>
                <a:ea typeface="Poppins"/>
                <a:cs typeface="+mj-lt"/>
                <a:sym typeface="Poppins"/>
              </a:rPr>
              <a:t>04.</a:t>
            </a:r>
            <a:r>
              <a:rPr lang="en-US" sz="1200" b="0" i="0" u="none" strike="noStrike">
                <a:solidFill>
                  <a:srgbClr val="4A5568"/>
                </a:solidFill>
                <a:latin typeface="+mj-lt"/>
                <a:ea typeface="Noto Sans SC" panose="020B0200000000000000" charset="-122"/>
                <a:cs typeface="+mj-lt"/>
                <a:sym typeface="Noto Sans SC" panose="020B0200000000000000" charset="-122"/>
              </a:rPr>
              <a:t>Get Recommendations</a:t>
            </a:r>
            <a:endParaRPr lang="en-US" sz="1100">
              <a:latin typeface="+mj-lt"/>
              <a:cs typeface="+mj-lt"/>
            </a:endParaRPr>
          </a:p>
          <a:p>
            <a:pPr indent="0" algn="l">
              <a:lnSpc>
                <a:spcPct val="125000"/>
              </a:lnSpc>
            </a:pPr>
            <a:r>
              <a:rPr lang="en-US" sz="1200" b="1" i="0" u="none" strike="noStrike">
                <a:solidFill>
                  <a:srgbClr val="4FD1C5"/>
                </a:solidFill>
                <a:latin typeface="+mj-lt"/>
                <a:ea typeface="Poppins"/>
                <a:cs typeface="+mj-lt"/>
                <a:sym typeface="Poppins"/>
              </a:rPr>
              <a:t>05.</a:t>
            </a:r>
            <a:r>
              <a:rPr lang="en-US" sz="1200" b="0" i="0" u="none" strike="noStrike">
                <a:solidFill>
                  <a:srgbClr val="4A5568"/>
                </a:solidFill>
                <a:latin typeface="+mj-lt"/>
                <a:ea typeface="Noto Sans SC" panose="020B0200000000000000" charset="-122"/>
                <a:cs typeface="+mj-lt"/>
                <a:sym typeface="Noto Sans SC" panose="020B0200000000000000" charset="-122"/>
              </a:rPr>
              <a:t>Call Analytics API</a:t>
            </a:r>
            <a:endParaRPr lang="en-US" sz="1200" b="0" i="0" u="none" strike="noStrike">
              <a:solidFill>
                <a:srgbClr val="4A5568"/>
              </a:solidFill>
              <a:latin typeface="+mj-lt"/>
              <a:ea typeface="Noto Sans SC" panose="020B0200000000000000" charset="-122"/>
              <a:cs typeface="+mj-lt"/>
              <a:sym typeface="Noto Sans SC" panose="020B0200000000000000" charset="-122"/>
            </a:endParaRPr>
          </a:p>
          <a:p>
            <a:pPr indent="0" algn="l">
              <a:lnSpc>
                <a:spcPct val="125000"/>
              </a:lnSpc>
            </a:pPr>
            <a:r>
              <a:rPr lang="en-US" sz="1200" b="1" i="0" u="none" strike="noStrike">
                <a:solidFill>
                  <a:srgbClr val="4FD1C5"/>
                </a:solidFill>
                <a:latin typeface="+mj-lt"/>
                <a:ea typeface="Poppins"/>
                <a:cs typeface="+mj-lt"/>
                <a:sym typeface="Poppins"/>
              </a:rPr>
              <a:t>06.</a:t>
            </a:r>
            <a:r>
              <a:rPr lang="en-US" sz="1200" b="0" i="0" u="none" strike="noStrike">
                <a:solidFill>
                  <a:srgbClr val="4A5568"/>
                </a:solidFill>
                <a:latin typeface="+mj-lt"/>
                <a:ea typeface="Noto Sans SC" panose="020B0200000000000000" charset="-122"/>
                <a:cs typeface="+mj-lt"/>
                <a:sym typeface="Noto Sans SC" panose="020B0200000000000000" charset="-122"/>
              </a:rPr>
              <a:t>Verify Health &amp; Docs</a:t>
            </a:r>
            <a:endParaRPr lang="en-US" sz="1200" b="0" i="0" u="none" strike="noStrike">
              <a:solidFill>
                <a:srgbClr val="4A5568"/>
              </a:solidFill>
              <a:latin typeface="+mj-lt"/>
              <a:ea typeface="Noto Sans SC" panose="020B0200000000000000" charset="-122"/>
              <a:cs typeface="+mj-lt"/>
              <a:sym typeface="Noto Sans SC" panose="020B0200000000000000" charset="-122"/>
            </a:endParaRPr>
          </a:p>
        </p:txBody>
      </p:sp>
      <p:pic>
        <p:nvPicPr>
          <p:cNvPr id="17" name="图片 16"/>
          <p:cNvPicPr>
            <a:picLocks noChangeAspect="1"/>
          </p:cNvPicPr>
          <p:nvPr/>
        </p:nvPicPr>
        <p:blipFill>
          <a:blip r:embed="rId2"/>
          <a:stretch>
            <a:fillRect/>
          </a:stretch>
        </p:blipFill>
        <p:spPr>
          <a:xfrm>
            <a:off x="7752080" y="845820"/>
            <a:ext cx="2493010" cy="51669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Arial" panose="020B0604020202020204" pitchFamily="34" charset="0"/>
                <a:ea typeface="Poppins"/>
                <a:cs typeface="Arial" panose="020B0604020202020204" pitchFamily="34" charset="0"/>
                <a:sym typeface="Poppins"/>
              </a:rPr>
              <a:t>Deliverables List</a:t>
            </a:r>
            <a:endParaRPr lang="en-US" sz="1100">
              <a:latin typeface="Arial" panose="020B0604020202020204" pitchFamily="34" charset="0"/>
              <a:cs typeface="Arial" panose="020B0604020202020204" pitchFamily="34" charset="0"/>
            </a:endParaRPr>
          </a:p>
        </p:txBody>
      </p:sp>
      <p:sp>
        <p:nvSpPr>
          <p:cNvPr id="4" name="AutoShape 4"/>
          <p:cNvSpPr/>
          <p:nvPr>
            <p:custDataLst>
              <p:tags r:id="rId2"/>
            </p:custDataLst>
          </p:nvPr>
        </p:nvSpPr>
        <p:spPr>
          <a:xfrm>
            <a:off x="762000" y="1651000"/>
            <a:ext cx="5207000" cy="1397000"/>
          </a:xfrm>
          <a:prstGeom prst="roundRect">
            <a:avLst>
              <a:gd name="adj" fmla="val 10909"/>
            </a:avLst>
          </a:prstGeom>
          <a:solidFill>
            <a:srgbClr val="FFFFFF">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016000" y="1968500"/>
            <a:ext cx="762000" cy="762000"/>
          </a:xfrm>
          <a:prstGeom prst="ellipse">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2159000"/>
            <a:ext cx="381000" cy="381000"/>
          </a:xfrm>
          <a:prstGeom prst="rect">
            <a:avLst/>
          </a:prstGeom>
        </p:spPr>
      </p:pic>
      <p:sp>
        <p:nvSpPr>
          <p:cNvPr id="7" name="AutoShape 7"/>
          <p:cNvSpPr/>
          <p:nvPr>
            <p:custDataLst>
              <p:tags r:id="rId7"/>
            </p:custDataLst>
          </p:nvPr>
        </p:nvSpPr>
        <p:spPr>
          <a:xfrm>
            <a:off x="2032000" y="1905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Arial" panose="020B0604020202020204" pitchFamily="34" charset="0"/>
                <a:ea typeface="Poppins"/>
                <a:cs typeface="Arial" panose="020B0604020202020204" pitchFamily="34" charset="0"/>
                <a:sym typeface="Poppins"/>
              </a:rPr>
              <a:t>Code Repository</a:t>
            </a:r>
            <a:endParaRPr lang="en-US" sz="1100">
              <a:latin typeface="Arial" panose="020B0604020202020204" pitchFamily="34" charset="0"/>
              <a:cs typeface="Arial" panose="020B0604020202020204" pitchFamily="34" charset="0"/>
            </a:endParaRPr>
          </a:p>
        </p:txBody>
      </p:sp>
      <p:sp>
        <p:nvSpPr>
          <p:cNvPr id="8" name="AutoShape 8"/>
          <p:cNvSpPr/>
          <p:nvPr>
            <p:custDataLst>
              <p:tags r:id="rId8"/>
            </p:custDataLst>
          </p:nvPr>
        </p:nvSpPr>
        <p:spPr>
          <a:xfrm>
            <a:off x="2032000" y="2413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100">
                <a:hlinkClick r:id="rId9" tooltip="" action="ppaction://hlinkfile"/>
              </a:rPr>
              <a:t>https://github.com/qt0713/Web-cwk</a:t>
            </a:r>
            <a:endParaRPr lang="en-US" altLang="zh-CN" sz="1100"/>
          </a:p>
        </p:txBody>
      </p:sp>
      <p:sp>
        <p:nvSpPr>
          <p:cNvPr id="9" name="AutoShape 9"/>
          <p:cNvSpPr/>
          <p:nvPr>
            <p:custDataLst>
              <p:tags r:id="rId10"/>
            </p:custDataLst>
          </p:nvPr>
        </p:nvSpPr>
        <p:spPr>
          <a:xfrm>
            <a:off x="6223000" y="1651000"/>
            <a:ext cx="5207000" cy="1397000"/>
          </a:xfrm>
          <a:prstGeom prst="roundRect">
            <a:avLst>
              <a:gd name="adj" fmla="val 10909"/>
            </a:avLst>
          </a:prstGeom>
          <a:solidFill>
            <a:srgbClr val="FFFFFF">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custDataLst>
              <p:tags r:id="rId11"/>
            </p:custDataLst>
          </p:nvPr>
        </p:nvSpPr>
        <p:spPr>
          <a:xfrm>
            <a:off x="6477000" y="1968500"/>
            <a:ext cx="762000" cy="762000"/>
          </a:xfrm>
          <a:prstGeom prst="ellipse">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67500" y="2159000"/>
            <a:ext cx="381000" cy="381000"/>
          </a:xfrm>
          <a:prstGeom prst="rect">
            <a:avLst/>
          </a:prstGeom>
        </p:spPr>
      </p:pic>
      <p:sp>
        <p:nvSpPr>
          <p:cNvPr id="12" name="AutoShape 12"/>
          <p:cNvSpPr/>
          <p:nvPr>
            <p:custDataLst>
              <p:tags r:id="rId15"/>
            </p:custDataLst>
          </p:nvPr>
        </p:nvSpPr>
        <p:spPr>
          <a:xfrm>
            <a:off x="7493000" y="1905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Arial" panose="020B0604020202020204" pitchFamily="34" charset="0"/>
                <a:ea typeface="Poppins"/>
                <a:cs typeface="Arial" panose="020B0604020202020204" pitchFamily="34" charset="0"/>
                <a:sym typeface="Poppins"/>
              </a:rPr>
              <a:t>API Documentation</a:t>
            </a:r>
            <a:endParaRPr lang="en-US" sz="1100">
              <a:latin typeface="Arial" panose="020B0604020202020204" pitchFamily="34" charset="0"/>
              <a:cs typeface="Arial" panose="020B0604020202020204" pitchFamily="34" charset="0"/>
            </a:endParaRPr>
          </a:p>
        </p:txBody>
      </p:sp>
      <p:sp>
        <p:nvSpPr>
          <p:cNvPr id="13" name="AutoShape 13"/>
          <p:cNvSpPr/>
          <p:nvPr>
            <p:custDataLst>
              <p:tags r:id="rId16"/>
            </p:custDataLst>
          </p:nvPr>
        </p:nvSpPr>
        <p:spPr>
          <a:xfrm>
            <a:off x="7493000" y="2413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100">
                <a:hlinkClick r:id="rId17" tooltip="" action="ppaction://hlinkfile"/>
              </a:rPr>
              <a:t>https://github.com/qt0713/Web-cwk/blob/main/docs/API_DOCUMENTATION.pdf</a:t>
            </a:r>
            <a:endParaRPr lang="en-US" altLang="zh-CN" sz="1100"/>
          </a:p>
        </p:txBody>
      </p:sp>
      <p:sp>
        <p:nvSpPr>
          <p:cNvPr id="14" name="AutoShape 14"/>
          <p:cNvSpPr/>
          <p:nvPr>
            <p:custDataLst>
              <p:tags r:id="rId18"/>
            </p:custDataLst>
          </p:nvPr>
        </p:nvSpPr>
        <p:spPr>
          <a:xfrm>
            <a:off x="762000" y="3429000"/>
            <a:ext cx="5207000" cy="1397000"/>
          </a:xfrm>
          <a:prstGeom prst="roundRect">
            <a:avLst>
              <a:gd name="adj" fmla="val 10909"/>
            </a:avLst>
          </a:prstGeom>
          <a:solidFill>
            <a:srgbClr val="FFFFFF">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15" name="AutoShape 15"/>
          <p:cNvSpPr/>
          <p:nvPr>
            <p:custDataLst>
              <p:tags r:id="rId19"/>
            </p:custDataLst>
          </p:nvPr>
        </p:nvSpPr>
        <p:spPr>
          <a:xfrm>
            <a:off x="1016000" y="3746500"/>
            <a:ext cx="762000" cy="762000"/>
          </a:xfrm>
          <a:prstGeom prst="ellipse">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2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206500" y="3937000"/>
            <a:ext cx="381000" cy="381000"/>
          </a:xfrm>
          <a:prstGeom prst="rect">
            <a:avLst/>
          </a:prstGeom>
        </p:spPr>
      </p:pic>
      <p:sp>
        <p:nvSpPr>
          <p:cNvPr id="17" name="AutoShape 17"/>
          <p:cNvSpPr/>
          <p:nvPr>
            <p:custDataLst>
              <p:tags r:id="rId23"/>
            </p:custDataLst>
          </p:nvPr>
        </p:nvSpPr>
        <p:spPr>
          <a:xfrm>
            <a:off x="2032000" y="3683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mj-lt"/>
                <a:ea typeface="Poppins"/>
                <a:cs typeface="+mj-lt"/>
                <a:sym typeface="Poppins"/>
              </a:rPr>
              <a:t>Technical Report</a:t>
            </a:r>
            <a:endParaRPr lang="en-US" sz="1100">
              <a:latin typeface="+mj-lt"/>
              <a:cs typeface="+mj-lt"/>
            </a:endParaRPr>
          </a:p>
        </p:txBody>
      </p:sp>
      <p:sp>
        <p:nvSpPr>
          <p:cNvPr id="18" name="AutoShape 18"/>
          <p:cNvSpPr/>
          <p:nvPr>
            <p:custDataLst>
              <p:tags r:id="rId24"/>
            </p:custDataLst>
          </p:nvPr>
        </p:nvSpPr>
        <p:spPr>
          <a:xfrm>
            <a:off x="2032000" y="4191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100">
                <a:hlinkClick r:id="rId25" tooltip="" action="ppaction://hlinkfile"/>
              </a:rPr>
              <a:t>https://github.com/qt0713/Web-cwk/blob/main/TECHNICAL_REPORT.pdf</a:t>
            </a:r>
            <a:endParaRPr lang="en-US" altLang="zh-CN" sz="1100"/>
          </a:p>
        </p:txBody>
      </p:sp>
      <p:sp>
        <p:nvSpPr>
          <p:cNvPr id="19" name="AutoShape 19"/>
          <p:cNvSpPr/>
          <p:nvPr>
            <p:custDataLst>
              <p:tags r:id="rId26"/>
            </p:custDataLst>
          </p:nvPr>
        </p:nvSpPr>
        <p:spPr>
          <a:xfrm>
            <a:off x="6223000" y="3429000"/>
            <a:ext cx="5207000" cy="1397000"/>
          </a:xfrm>
          <a:prstGeom prst="roundRect">
            <a:avLst>
              <a:gd name="adj" fmla="val 10909"/>
            </a:avLst>
          </a:prstGeom>
          <a:solidFill>
            <a:srgbClr val="FFFFFF">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20" name="AutoShape 20"/>
          <p:cNvSpPr/>
          <p:nvPr>
            <p:custDataLst>
              <p:tags r:id="rId27"/>
            </p:custDataLst>
          </p:nvPr>
        </p:nvSpPr>
        <p:spPr>
          <a:xfrm>
            <a:off x="6477000" y="3746500"/>
            <a:ext cx="762000" cy="762000"/>
          </a:xfrm>
          <a:prstGeom prst="ellipse">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custDataLst>
              <p:tags r:id="rId28"/>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667500" y="3937000"/>
            <a:ext cx="381000" cy="381000"/>
          </a:xfrm>
          <a:prstGeom prst="rect">
            <a:avLst/>
          </a:prstGeom>
        </p:spPr>
      </p:pic>
      <p:sp>
        <p:nvSpPr>
          <p:cNvPr id="22" name="AutoShape 22"/>
          <p:cNvSpPr/>
          <p:nvPr>
            <p:custDataLst>
              <p:tags r:id="rId31"/>
            </p:custDataLst>
          </p:nvPr>
        </p:nvSpPr>
        <p:spPr>
          <a:xfrm>
            <a:off x="7493000" y="3429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mj-lt"/>
                <a:ea typeface="Poppins"/>
                <a:cs typeface="+mj-lt"/>
                <a:sym typeface="Poppins"/>
              </a:rPr>
              <a:t>GenAI Usage Evidence</a:t>
            </a:r>
            <a:endParaRPr lang="en-US" sz="1100">
              <a:latin typeface="+mj-lt"/>
              <a:cs typeface="+mj-lt"/>
            </a:endParaRPr>
          </a:p>
        </p:txBody>
      </p:sp>
      <p:sp>
        <p:nvSpPr>
          <p:cNvPr id="23" name="AutoShape 23"/>
          <p:cNvSpPr/>
          <p:nvPr>
            <p:custDataLst>
              <p:tags r:id="rId32"/>
            </p:custDataLst>
          </p:nvPr>
        </p:nvSpPr>
        <p:spPr>
          <a:xfrm>
            <a:off x="7493000" y="4064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100">
                <a:hlinkClick r:id="rId33" tooltip="" action="ppaction://hlinkfile"/>
              </a:rPr>
              <a:t>https://github.com/qt0713/Web-cwk/blob/main/docs/GENAI_EXCERPTS.md</a:t>
            </a:r>
            <a:endParaRPr lang="en-US" altLang="zh-CN" sz="1100">
              <a:hlinkClick r:id="rId33" tooltip="" action="ppaction://hlinkfile"/>
            </a:endParaRPr>
          </a:p>
          <a:p>
            <a:pPr indent="0" algn="l">
              <a:lnSpc>
                <a:spcPct val="125000"/>
              </a:lnSpc>
              <a:defRPr/>
            </a:pPr>
            <a:r>
              <a:rPr lang="en-US" altLang="zh-CN" sz="1100">
                <a:hlinkClick r:id="rId34" tooltip="" action="ppaction://hlinkfile"/>
              </a:rPr>
              <a:t>https://github.com/qt0713/Web-cwk/blob/main/docs/GENAI_EXPORTED_LOG_SNIPPETS.md</a:t>
            </a:r>
            <a:endParaRPr lang="en-US" altLang="zh-CN" sz="1100"/>
          </a:p>
        </p:txBody>
      </p:sp>
    </p:spTree>
  </p:cSld>
  <p:clrMapOvr>
    <a:masterClrMapping/>
  </p:clrMapOvr>
</p:sld>
</file>

<file path=ppt/tags/tag1.xml><?xml version="1.0" encoding="utf-8"?>
<p:tagLst xmlns:p="http://schemas.openxmlformats.org/presentationml/2006/main">
  <p:tag name="KSO_WM_DIAGRAM_VIRTUALLY_FRAME" val="{&quot;height&quot;:340,&quot;left&quot;:60,&quot;top&quot;:120,&quot;width&quot;:400}"/>
</p:tagLst>
</file>

<file path=ppt/tags/tag2.xml><?xml version="1.0" encoding="utf-8"?>
<p:tagLst xmlns:p="http://schemas.openxmlformats.org/presentationml/2006/main">
  <p:tag name="KSO_WM_DIAGRAM_VIRTUALLY_FRAME" val="{&quot;height&quot;:340,&quot;left&quot;:60,&quot;top&quot;:120,&quot;width&quot;:400}"/>
</p:tagLst>
</file>

<file path=ppt/tags/tag3.xml><?xml version="1.0" encoding="utf-8"?>
<p:tagLst xmlns:p="http://schemas.openxmlformats.org/presentationml/2006/main">
  <p:tag name="KSO_WM_DIAGRAM_VIRTUALLY_FRAME" val="{&quot;height&quot;:340,&quot;left&quot;:60,&quot;top&quot;:120,&quot;width&quot;:400}"/>
</p:tagLst>
</file>

<file path=ppt/tags/tag4.xml><?xml version="1.0" encoding="utf-8"?>
<p:tagLst xmlns:p="http://schemas.openxmlformats.org/presentationml/2006/main">
  <p:tag name="KSO_WM_DIAGRAM_VIRTUALLY_FRAME" val="{&quot;height&quot;:340,&quot;left&quot;:60,&quot;top&quot;:120,&quot;width&quot;:400}"/>
</p:tagLst>
</file>

<file path=ppt/tags/tag5.xml><?xml version="1.0" encoding="utf-8"?>
<p:tagLst xmlns:p="http://schemas.openxmlformats.org/presentationml/2006/main">
  <p:tag name="KSO_WM_DIAGRAM_VIRTUALLY_FRAME" val="{&quot;height&quot;:340,&quot;left&quot;:60,&quot;top&quot;:120,&quot;width&quot;:400}"/>
</p:tagLst>
</file>

<file path=ppt/tags/tag6.xml><?xml version="1.0" encoding="utf-8"?>
<p:tagLst xmlns:p="http://schemas.openxmlformats.org/presentationml/2006/main">
  <p:tag name="KSO_WM_DIAGRAM_VIRTUALLY_FRAME" val="{&quot;height&quot;:340,&quot;left&quot;:60,&quot;top&quot;:120,&quot;width&quot;:400}"/>
</p:tagLst>
</file>

<file path=ppt/tags/tag7.xml><?xml version="1.0" encoding="utf-8"?>
<p:tagLst xmlns:p="http://schemas.openxmlformats.org/presentationml/2006/main">
  <p:tag name="KSO_WM_DIAGRAM_VIRTUALLY_FRAME" val="{&quot;height&quot;:340,&quot;left&quot;:60,&quot;top&quot;:120,&quot;width&quot;:400}"/>
</p:tagLst>
</file>

<file path=ppt/tags/tag8.xml><?xml version="1.0" encoding="utf-8"?>
<p:tagLst xmlns:p="http://schemas.openxmlformats.org/presentationml/2006/main">
  <p:tag name="KSO_WM_DIAGRAM_VIRTUALLY_FRAME" val="{&quot;height&quot;:340,&quot;left&quot;:60,&quot;top&quot;:120,&quot;width&quot;:400}"/>
</p:tagLst>
</file>

<file path=ppt/tags/tag9.xml><?xml version="1.0" encoding="utf-8"?>
<p:tagLst xmlns:p="http://schemas.openxmlformats.org/presentationml/2006/main">
  <p:tag name="KSO_WM_DIAGRAM_VIRTUALLY_FRAME" val="{&quot;height&quot;:250,&quot;left&quot;:60,&quot;top&quot;:130,&quot;width&quot;:840}"/>
</p:tagLst>
</file>

<file path=ppt/tags/tag10.xml><?xml version="1.0" encoding="utf-8"?>
<p:tagLst xmlns:p="http://schemas.openxmlformats.org/presentationml/2006/main">
  <p:tag name="KSO_WM_DIAGRAM_VIRTUALLY_FRAME" val="{&quot;height&quot;:250,&quot;left&quot;:60,&quot;top&quot;:130,&quot;width&quot;:840}"/>
</p:tagLst>
</file>

<file path=ppt/tags/tag11.xml><?xml version="1.0" encoding="utf-8"?>
<p:tagLst xmlns:p="http://schemas.openxmlformats.org/presentationml/2006/main">
  <p:tag name="KSO_WM_DIAGRAM_VIRTUALLY_FRAME" val="{&quot;height&quot;:250,&quot;left&quot;:60,&quot;top&quot;:130,&quot;width&quot;:840}"/>
</p:tagLst>
</file>

<file path=ppt/tags/tag12.xml><?xml version="1.0" encoding="utf-8"?>
<p:tagLst xmlns:p="http://schemas.openxmlformats.org/presentationml/2006/main">
  <p:tag name="KSO_WM_DIAGRAM_VIRTUALLY_FRAME" val="{&quot;height&quot;:250,&quot;left&quot;:60,&quot;top&quot;:130,&quot;width&quot;:840}"/>
</p:tagLst>
</file>

<file path=ppt/tags/tag13.xml><?xml version="1.0" encoding="utf-8"?>
<p:tagLst xmlns:p="http://schemas.openxmlformats.org/presentationml/2006/main">
  <p:tag name="KSO_WM_DIAGRAM_VIRTUALLY_FRAME" val="{&quot;height&quot;:250,&quot;left&quot;:60,&quot;top&quot;:130,&quot;width&quot;:840}"/>
</p:tagLst>
</file>

<file path=ppt/tags/tag14.xml><?xml version="1.0" encoding="utf-8"?>
<p:tagLst xmlns:p="http://schemas.openxmlformats.org/presentationml/2006/main">
  <p:tag name="KSO_WM_DIAGRAM_VIRTUALLY_FRAME" val="{&quot;height&quot;:250,&quot;left&quot;:60,&quot;top&quot;:130,&quot;width&quot;:840}"/>
</p:tagLst>
</file>

<file path=ppt/tags/tag15.xml><?xml version="1.0" encoding="utf-8"?>
<p:tagLst xmlns:p="http://schemas.openxmlformats.org/presentationml/2006/main">
  <p:tag name="KSO_WM_DIAGRAM_VIRTUALLY_FRAME" val="{&quot;height&quot;:250,&quot;left&quot;:60,&quot;top&quot;:130,&quot;width&quot;:840}"/>
</p:tagLst>
</file>

<file path=ppt/tags/tag16.xml><?xml version="1.0" encoding="utf-8"?>
<p:tagLst xmlns:p="http://schemas.openxmlformats.org/presentationml/2006/main">
  <p:tag name="KSO_WM_DIAGRAM_VIRTUALLY_FRAME" val="{&quot;height&quot;:250,&quot;left&quot;:60,&quot;top&quot;:130,&quot;width&quot;:840}"/>
</p:tagLst>
</file>

<file path=ppt/tags/tag17.xml><?xml version="1.0" encoding="utf-8"?>
<p:tagLst xmlns:p="http://schemas.openxmlformats.org/presentationml/2006/main">
  <p:tag name="KSO_WM_DIAGRAM_VIRTUALLY_FRAME" val="{&quot;height&quot;:250,&quot;left&quot;:60,&quot;top&quot;:130,&quot;width&quot;:840}"/>
</p:tagLst>
</file>

<file path=ppt/tags/tag18.xml><?xml version="1.0" encoding="utf-8"?>
<p:tagLst xmlns:p="http://schemas.openxmlformats.org/presentationml/2006/main">
  <p:tag name="KSO_WM_DIAGRAM_VIRTUALLY_FRAME" val="{&quot;height&quot;:250,&quot;left&quot;:60,&quot;top&quot;:130,&quot;width&quot;:840}"/>
</p:tagLst>
</file>

<file path=ppt/tags/tag19.xml><?xml version="1.0" encoding="utf-8"?>
<p:tagLst xmlns:p="http://schemas.openxmlformats.org/presentationml/2006/main">
  <p:tag name="KSO_WM_DIAGRAM_VIRTUALLY_FRAME" val="{&quot;height&quot;:250,&quot;left&quot;:60,&quot;top&quot;:130,&quot;width&quot;:840}"/>
</p:tagLst>
</file>

<file path=ppt/tags/tag20.xml><?xml version="1.0" encoding="utf-8"?>
<p:tagLst xmlns:p="http://schemas.openxmlformats.org/presentationml/2006/main">
  <p:tag name="KSO_WM_DIAGRAM_VIRTUALLY_FRAME" val="{&quot;height&quot;:250,&quot;left&quot;:60,&quot;top&quot;:130,&quot;width&quot;:840}"/>
</p:tagLst>
</file>

<file path=ppt/tags/tag21.xml><?xml version="1.0" encoding="utf-8"?>
<p:tagLst xmlns:p="http://schemas.openxmlformats.org/presentationml/2006/main">
  <p:tag name="KSO_WM_DIAGRAM_VIRTUALLY_FRAME" val="{&quot;height&quot;:250,&quot;left&quot;:60,&quot;top&quot;:130,&quot;width&quot;:840}"/>
</p:tagLst>
</file>

<file path=ppt/tags/tag22.xml><?xml version="1.0" encoding="utf-8"?>
<p:tagLst xmlns:p="http://schemas.openxmlformats.org/presentationml/2006/main">
  <p:tag name="KSO_WM_DIAGRAM_VIRTUALLY_FRAME" val="{&quot;height&quot;:250,&quot;left&quot;:60,&quot;top&quot;:130,&quot;width&quot;:840}"/>
</p:tagLst>
</file>

<file path=ppt/tags/tag23.xml><?xml version="1.0" encoding="utf-8"?>
<p:tagLst xmlns:p="http://schemas.openxmlformats.org/presentationml/2006/main">
  <p:tag name="KSO_WM_DIAGRAM_VIRTUALLY_FRAME" val="{&quot;height&quot;:250,&quot;left&quot;:60,&quot;top&quot;:130,&quot;width&quot;:840}"/>
</p:tagLst>
</file>

<file path=ppt/tags/tag24.xml><?xml version="1.0" encoding="utf-8"?>
<p:tagLst xmlns:p="http://schemas.openxmlformats.org/presentationml/2006/main">
  <p:tag name="KSO_WM_DIAGRAM_VIRTUALLY_FRAME" val="{&quot;height&quot;:250,&quot;left&quot;:60,&quot;top&quot;:130,&quot;width&quot;:840}"/>
</p:tagLst>
</file>

<file path=ppt/tags/tag25.xml><?xml version="1.0" encoding="utf-8"?>
<p:tagLst xmlns:p="http://schemas.openxmlformats.org/presentationml/2006/main">
  <p:tag name="KSO_WM_DIAGRAM_VIRTUALLY_FRAME" val="{&quot;height&quot;:250,&quot;left&quot;:60,&quot;top&quot;:130,&quot;width&quot;:840}"/>
</p:tagLst>
</file>

<file path=ppt/tags/tag26.xml><?xml version="1.0" encoding="utf-8"?>
<p:tagLst xmlns:p="http://schemas.openxmlformats.org/presentationml/2006/main">
  <p:tag name="KSO_WM_DIAGRAM_VIRTUALLY_FRAME" val="{&quot;height&quot;:250,&quot;left&quot;:60,&quot;top&quot;:130,&quot;width&quot;:840}"/>
</p:tagLst>
</file>

<file path=ppt/tags/tag27.xml><?xml version="1.0" encoding="utf-8"?>
<p:tagLst xmlns:p="http://schemas.openxmlformats.org/presentationml/2006/main">
  <p:tag name="KSO_WM_DIAGRAM_VIRTUALLY_FRAME" val="{&quot;height&quot;:250,&quot;left&quot;:60,&quot;top&quot;:130,&quot;width&quot;:840}"/>
</p:tagLst>
</file>

<file path=ppt/tags/tag28.xml><?xml version="1.0" encoding="utf-8"?>
<p:tagLst xmlns:p="http://schemas.openxmlformats.org/presentationml/2006/main">
  <p:tag name="KSO_WM_DIAGRAM_VIRTUALLY_FRAME" val="{&quot;height&quot;:250,&quot;left&quot;:60,&quot;top&quot;:13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2799</Words>
  <Application>WPS 演示</Application>
  <PresentationFormat/>
  <Paragraphs>141</Paragraphs>
  <Slides>8</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8</vt:i4>
      </vt:variant>
    </vt:vector>
  </HeadingPairs>
  <TitlesOfParts>
    <vt:vector size="21" baseType="lpstr">
      <vt:lpstr>Arial</vt:lpstr>
      <vt:lpstr>宋体</vt:lpstr>
      <vt:lpstr>Wingdings</vt:lpstr>
      <vt:lpstr>Arial</vt:lpstr>
      <vt:lpstr>Poppins</vt:lpstr>
      <vt:lpstr>SWComp</vt:lpstr>
      <vt:lpstr>Noto Sans SC</vt:lpstr>
      <vt:lpstr>微软雅黑</vt:lpstr>
      <vt:lpstr>Arial Unicode MS</vt:lpstr>
      <vt:lpstr>Poppins</vt:lpstr>
      <vt:lpstr>A new day begins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昶玮</cp:lastModifiedBy>
  <cp:revision>1</cp:revision>
  <dcterms:created xsi:type="dcterms:W3CDTF">2026-04-21T07:54:20Z</dcterms:created>
  <dcterms:modified xsi:type="dcterms:W3CDTF">2026-04-21T07:54:20Z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76C14ACF58A0454C9E1E0B2629E68758_12</vt:lpwstr>
  </property>
</Properties>
</file>